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1" r:id="rId9"/>
    <p:sldId id="266" r:id="rId10"/>
  </p:sldIdLst>
  <p:sldSz cx="16256000" cy="9144000"/>
  <p:notesSz cx="9144000" cy="16256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BDF8"/>
    <a:srgbClr val="F43F5E"/>
    <a:srgbClr val="F1F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56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8BDF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9E7-48A5-AD69-FF5BE2F25387}"/>
              </c:ext>
            </c:extLst>
          </c:dPt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9E7-48A5-AD69-FF5BE2F2538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rgbClr val="002060"/>
                    </a:solidFill>
                    <a:latin typeface="QuattrocentoSans"/>
                    <a:ea typeface="+mn-ea"/>
                    <a:cs typeface="+mn-cs"/>
                  </a:defRPr>
                </a:pPr>
                <a:endParaRPr lang="ru-BY"/>
              </a:p>
            </c:txPr>
            <c:dLblPos val="ctr"/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Лист1!$B$2</c:f>
              <c:numCache>
                <c:formatCode>#,##0</c:formatCode>
                <c:ptCount val="1"/>
                <c:pt idx="0">
                  <c:v>5174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E7-48A5-AD69-FF5BE2F2538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F43F5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5445427722112289E-3"/>
                  <c:y val="0.14995569812760828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rgbClr val="002060"/>
                        </a:solidFill>
                        <a:latin typeface="QuattrocentoSans"/>
                        <a:ea typeface="+mn-ea"/>
                        <a:cs typeface="+mn-cs"/>
                      </a:defRPr>
                    </a:pPr>
                    <a:fld id="{CD6ECDFF-49BB-4AD0-A415-B5D055FBA2FC}" type="VALUE">
                      <a:rPr lang="en-US" sz="2000">
                        <a:solidFill>
                          <a:srgbClr val="002060"/>
                        </a:solidFill>
                      </a:rPr>
                      <a:pPr>
                        <a:defRPr>
                          <a:solidFill>
                            <a:srgbClr val="002060"/>
                          </a:solidFill>
                          <a:latin typeface="QuattrocentoSans"/>
                        </a:defRPr>
                      </a:pPr>
                      <a:t>[ЗНАЧЕНИЕ]</a:t>
                    </a:fld>
                    <a:endParaRPr lang="ru-BY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rgbClr val="002060"/>
                      </a:solidFill>
                      <a:latin typeface="QuattrocentoSans"/>
                      <a:ea typeface="+mn-ea"/>
                      <a:cs typeface="+mn-cs"/>
                    </a:defRPr>
                  </a:pPr>
                  <a:endParaRPr lang="ru-BY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99E7-48A5-AD69-FF5BE2F2538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ru-BY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</c:f>
              <c:numCache>
                <c:formatCode>General</c:formatCode>
                <c:ptCount val="1"/>
              </c:numCache>
            </c:numRef>
          </c:cat>
          <c:val>
            <c:numRef>
              <c:f>Лист1!$C$2</c:f>
              <c:numCache>
                <c:formatCode>#,##0</c:formatCode>
                <c:ptCount val="1"/>
                <c:pt idx="0">
                  <c:v>1869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E7-48A5-AD69-FF5BE2F2538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48654400"/>
        <c:axId val="1748754384"/>
      </c:barChart>
      <c:catAx>
        <c:axId val="1748654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BY"/>
          </a:p>
        </c:txPr>
        <c:crossAx val="1748754384"/>
        <c:crosses val="autoZero"/>
        <c:auto val="1"/>
        <c:lblAlgn val="ctr"/>
        <c:lblOffset val="100"/>
        <c:noMultiLvlLbl val="0"/>
      </c:catAx>
      <c:valAx>
        <c:axId val="1748754384"/>
        <c:scaling>
          <c:orientation val="minMax"/>
        </c:scaling>
        <c:delete val="1"/>
        <c:axPos val="l"/>
        <c:majorGridlines>
          <c:spPr>
            <a:ln w="3175" cap="flat" cmpd="sng" algn="ctr">
              <a:solidFill>
                <a:srgbClr val="38BDF8"/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crossAx val="17486544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BY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A2B1DAE6-2E68-4179-B3D7-EF170E6343A8}" type="CELLRANGE">
                      <a:rPr lang="en-US"/>
                      <a:pPr/>
                      <a:t>[ДИАПАЗОН ЯЧЕЕК]</a:t>
                    </a:fld>
                    <a:endParaRPr lang="ru-BY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9569-43B0-82E2-5D3C23A503D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F61F0AD-D908-437F-BFE3-6E3FCB81E1BC}" type="CELLRANGE">
                      <a:rPr lang="ru-BY"/>
                      <a:pPr/>
                      <a:t>[ДИАПАЗОН ЯЧЕЕК]</a:t>
                    </a:fld>
                    <a:endParaRPr lang="ru-BY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9569-43B0-82E2-5D3C23A503D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B584BDE-EE00-4940-B78C-30746B720B5F}" type="CELLRANGE">
                      <a:rPr lang="ru-BY"/>
                      <a:pPr/>
                      <a:t>[ДИАПАЗОН ЯЧЕЕК]</a:t>
                    </a:fld>
                    <a:endParaRPr lang="ru-BY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9569-43B0-82E2-5D3C23A503D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C34F9770-3E91-4B08-8686-7B0DC9F093C2}" type="CELLRANGE">
                      <a:rPr lang="ru-BY"/>
                      <a:pPr/>
                      <a:t>[ДИАПАЗОН ЯЧЕЕК]</a:t>
                    </a:fld>
                    <a:endParaRPr lang="ru-BY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9569-43B0-82E2-5D3C23A503D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84174F1C-A457-4EA9-9970-77193D6D2FC8}" type="CELLRANGE">
                      <a:rPr lang="ru-BY"/>
                      <a:pPr/>
                      <a:t>[ДИАПАЗОН ЯЧЕЕК]</a:t>
                    </a:fld>
                    <a:endParaRPr lang="ru-BY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9569-43B0-82E2-5D3C23A503D2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1F5F9"/>
                    </a:solidFill>
                    <a:latin typeface="Arial"/>
                  </a:defRPr>
                </a:pPr>
                <a:endParaRPr lang="ru-BY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 защит</c:v>
                </c:pt>
                <c:pt idx="1">
                  <c:v>1 защита</c:v>
                </c:pt>
                <c:pt idx="2">
                  <c:v>2 защиты</c:v>
                </c:pt>
                <c:pt idx="3">
                  <c:v>3 защиты</c:v>
                </c:pt>
                <c:pt idx="4">
                  <c:v>4 защиты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56.7</c:v>
                </c:pt>
                <c:pt idx="1">
                  <c:v>38.9</c:v>
                </c:pt>
                <c:pt idx="2">
                  <c:v>23.8</c:v>
                </c:pt>
                <c:pt idx="3">
                  <c:v>12.4</c:v>
                </c:pt>
                <c:pt idx="4">
                  <c:v>5.3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Sheet1!$D$2:$D$6</c15:f>
                <c15:dlblRangeCache>
                  <c:ptCount val="5"/>
                  <c:pt idx="0">
                    <c:v>56,70%</c:v>
                  </c:pt>
                  <c:pt idx="1">
                    <c:v>38,90%</c:v>
                  </c:pt>
                  <c:pt idx="2">
                    <c:v>23,80%</c:v>
                  </c:pt>
                  <c:pt idx="3">
                    <c:v>12,40%</c:v>
                  </c:pt>
                  <c:pt idx="4">
                    <c:v>5,30%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9569-43B0-82E2-5D3C23A503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FFFFFF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94A3B8"/>
                </a:solidFill>
                <a:latin typeface="Arial"/>
              </a:defRPr>
            </a:pPr>
            <a:endParaRPr lang="ru-BY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</c:scaling>
        <c:delete val="0"/>
        <c:axPos val="b"/>
        <c:majorGridlines>
          <c:spPr>
            <a:ln w="12700" cap="flat">
              <a:solidFill>
                <a:srgbClr val="FFFFFF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94A3B8"/>
                </a:solidFill>
                <a:latin typeface="Arial"/>
              </a:defRPr>
            </a:pPr>
            <a:endParaRPr lang="ru-BY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Важность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1F5F9"/>
                    </a:solidFill>
                    <a:latin typeface="Arial"/>
                  </a:defRPr>
                </a:pPr>
                <a:endParaRPr lang="ru-BY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tenure</c:v>
                </c:pt>
                <c:pt idx="1">
                  <c:v>contract_Month-to-month</c:v>
                </c:pt>
                <c:pt idx="2">
                  <c:v>totalcharges</c:v>
                </c:pt>
                <c:pt idx="3">
                  <c:v>monthlycharges</c:v>
                </c:pt>
                <c:pt idx="4">
                  <c:v>contract_Two_year</c:v>
                </c:pt>
                <c:pt idx="5">
                  <c:v>onlinesecurity_No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0.127</c:v>
                </c:pt>
                <c:pt idx="1">
                  <c:v>0.106</c:v>
                </c:pt>
                <c:pt idx="2">
                  <c:v>0.10299999999999999</c:v>
                </c:pt>
                <c:pt idx="3">
                  <c:v>7.8E-2</c:v>
                </c:pt>
                <c:pt idx="4">
                  <c:v>5.8999999999999997E-2</c:v>
                </c:pt>
                <c:pt idx="5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17-405F-A6B0-611A23E274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FFFFF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ru-BY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FFFFF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ru-BY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225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48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54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9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54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134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59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0B1120"/>
            </a:gs>
            <a:gs pos="100000">
              <a:srgbClr val="111827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0" y="0"/>
            <a:ext cx="6731000" cy="6731000"/>
          </a:xfrm>
          <a:prstGeom prst="ellipse">
            <a:avLst/>
          </a:prstGeom>
          <a:solidFill>
            <a:srgbClr val="38BDF8">
              <a:alpha val="941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1016000"/>
            <a:ext cx="9144000" cy="7112000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22000" y="1778000"/>
            <a:ext cx="4318000" cy="4318000"/>
          </a:xfrm>
          <a:prstGeom prst="ellipse">
            <a:avLst/>
          </a:prstGeom>
          <a:gradFill flip="none" rotWithShape="1">
            <a:gsLst>
              <a:gs pos="0">
                <a:srgbClr val="38BDF8">
                  <a:alpha val="19000"/>
                </a:srgbClr>
              </a:gs>
              <a:gs pos="100000">
                <a:srgbClr val="818CF8">
                  <a:alpha val="13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12192000" y="4572000"/>
            <a:ext cx="2540000" cy="2540000"/>
          </a:xfrm>
          <a:prstGeom prst="ellipse">
            <a:avLst/>
          </a:prstGeom>
          <a:gradFill flip="none" rotWithShape="1">
            <a:gsLst>
              <a:gs pos="0">
                <a:srgbClr val="F43F5E">
                  <a:alpha val="21000"/>
                </a:srgbClr>
              </a:gs>
              <a:gs pos="100000">
                <a:srgbClr val="38BDF8">
                  <a:alpha val="15000"/>
                </a:srgbClr>
              </a:gs>
            </a:gsLst>
            <a:lin ang="810000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1270000" y="1651000"/>
            <a:ext cx="8128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5600" b="1" kern="0" spc="-5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Как снизить отток клиентов на </a:t>
            </a:r>
            <a:r>
              <a:rPr lang="en-US" sz="5600" b="1" kern="0" spc="-50" dirty="0">
                <a:solidFill>
                  <a:srgbClr val="F43F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25%</a:t>
            </a:r>
            <a:r>
              <a:rPr lang="en-US" sz="5600" b="1" kern="0" spc="-5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и сохранить часть выручки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1270000" y="5905500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38BDF8"/>
              </a:gs>
              <a:gs pos="100000">
                <a:srgbClr val="F43F5E"/>
              </a:gs>
            </a:gsLst>
            <a:lin ang="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1270000" y="6159500"/>
            <a:ext cx="812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Разбор на датасете </a:t>
            </a:r>
            <a:r>
              <a:rPr lang="en-US" sz="220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Telco_Customer_Churn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3462000" y="3556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101600"/>
                </a:moveTo>
                <a:cubicBezTo>
                  <a:pt x="101600" y="73501"/>
                  <a:pt x="78899" y="50800"/>
                  <a:pt x="50800" y="50800"/>
                </a:cubicBezTo>
                <a:cubicBezTo>
                  <a:pt x="22701" y="50800"/>
                  <a:pt x="0" y="73501"/>
                  <a:pt x="0" y="101600"/>
                </a:cubicBezTo>
                <a:lnTo>
                  <a:pt x="0" y="635000"/>
                </a:lnTo>
                <a:cubicBezTo>
                  <a:pt x="0" y="705168"/>
                  <a:pt x="56832" y="762000"/>
                  <a:pt x="127000" y="762000"/>
                </a:cubicBezTo>
                <a:lnTo>
                  <a:pt x="762000" y="762000"/>
                </a:lnTo>
                <a:cubicBezTo>
                  <a:pt x="790099" y="762000"/>
                  <a:pt x="812800" y="739299"/>
                  <a:pt x="812800" y="711200"/>
                </a:cubicBezTo>
                <a:cubicBezTo>
                  <a:pt x="812800" y="683101"/>
                  <a:pt x="790099" y="660400"/>
                  <a:pt x="762000" y="660400"/>
                </a:cubicBezTo>
                <a:lnTo>
                  <a:pt x="127000" y="660400"/>
                </a:lnTo>
                <a:cubicBezTo>
                  <a:pt x="113030" y="660400"/>
                  <a:pt x="101600" y="648970"/>
                  <a:pt x="101600" y="635000"/>
                </a:cubicBezTo>
                <a:lnTo>
                  <a:pt x="101600" y="101600"/>
                </a:lnTo>
                <a:close/>
                <a:moveTo>
                  <a:pt x="747078" y="239078"/>
                </a:moveTo>
                <a:cubicBezTo>
                  <a:pt x="766921" y="219234"/>
                  <a:pt x="766921" y="187008"/>
                  <a:pt x="747078" y="167164"/>
                </a:cubicBezTo>
                <a:cubicBezTo>
                  <a:pt x="727234" y="147320"/>
                  <a:pt x="695008" y="147320"/>
                  <a:pt x="675164" y="167164"/>
                </a:cubicBezTo>
                <a:lnTo>
                  <a:pt x="508000" y="334486"/>
                </a:lnTo>
                <a:lnTo>
                  <a:pt x="416878" y="243523"/>
                </a:lnTo>
                <a:cubicBezTo>
                  <a:pt x="397034" y="223679"/>
                  <a:pt x="364808" y="223679"/>
                  <a:pt x="344964" y="243523"/>
                </a:cubicBezTo>
                <a:lnTo>
                  <a:pt x="192564" y="395923"/>
                </a:lnTo>
                <a:cubicBezTo>
                  <a:pt x="172720" y="415766"/>
                  <a:pt x="172720" y="447993"/>
                  <a:pt x="192564" y="467836"/>
                </a:cubicBezTo>
                <a:cubicBezTo>
                  <a:pt x="212408" y="487680"/>
                  <a:pt x="244634" y="487680"/>
                  <a:pt x="264478" y="467836"/>
                </a:cubicBezTo>
                <a:lnTo>
                  <a:pt x="381000" y="351314"/>
                </a:lnTo>
                <a:lnTo>
                  <a:pt x="472123" y="442436"/>
                </a:lnTo>
                <a:cubicBezTo>
                  <a:pt x="491966" y="462280"/>
                  <a:pt x="524193" y="462280"/>
                  <a:pt x="544036" y="442436"/>
                </a:cubicBezTo>
                <a:lnTo>
                  <a:pt x="747236" y="239236"/>
                </a:lnTo>
                <a:close/>
              </a:path>
            </a:pathLst>
          </a:custGeom>
          <a:solidFill>
            <a:srgbClr val="38BDF8">
              <a:alpha val="31373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414000" y="6604000"/>
            <a:ext cx="152400" cy="1524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Shape 9"/>
          <p:cNvSpPr/>
          <p:nvPr/>
        </p:nvSpPr>
        <p:spPr>
          <a:xfrm>
            <a:off x="10795000" y="6985000"/>
            <a:ext cx="101600" cy="10160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0" y="7112000"/>
            <a:ext cx="127000" cy="127000"/>
          </a:xfrm>
          <a:prstGeom prst="ellipse">
            <a:avLst/>
          </a:prstGeom>
          <a:solidFill>
            <a:srgbClr val="818CF8"/>
          </a:soli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1">
          <a:gsLst>
            <a:gs pos="0">
              <a:srgbClr val="0B1120"/>
            </a:gs>
            <a:gs pos="100000">
              <a:srgbClr val="111827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69999" y="698500"/>
            <a:ext cx="1414079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3600" b="1" dirty="0">
                <a:solidFill>
                  <a:srgbClr val="F1F5F9"/>
                </a:solidFill>
                <a:latin typeface="Liter" pitchFamily="34" charset="0"/>
              </a:rPr>
              <a:t>Проблема</a:t>
            </a:r>
            <a:r>
              <a:rPr lang="en-US" sz="3600" b="1" dirty="0">
                <a:solidFill>
                  <a:srgbClr val="F1F5F9"/>
                </a:solidFill>
                <a:latin typeface="Liter" pitchFamily="34" charset="0"/>
              </a:rPr>
              <a:t>: </a:t>
            </a:r>
            <a:r>
              <a:rPr lang="ru-RU" sz="3600" b="1" dirty="0">
                <a:solidFill>
                  <a:srgbClr val="F43F5E"/>
                </a:solidFill>
                <a:latin typeface="Liter" pitchFamily="34" charset="0"/>
              </a:rPr>
              <a:t>26,5% </a:t>
            </a:r>
            <a:r>
              <a:rPr lang="ru-RU" sz="3600" b="1" dirty="0">
                <a:solidFill>
                  <a:srgbClr val="F1F5F9"/>
                </a:solidFill>
                <a:latin typeface="Liter" pitchFamily="34" charset="0"/>
              </a:rPr>
              <a:t>оттока стоит компании </a:t>
            </a:r>
            <a:r>
              <a:rPr lang="en-US" sz="3600" b="1" dirty="0">
                <a:solidFill>
                  <a:srgbClr val="F43F5E"/>
                </a:solidFill>
                <a:latin typeface="Liter" pitchFamily="34" charset="0"/>
              </a:rPr>
              <a:t>$1,</a:t>
            </a:r>
            <a:r>
              <a:rPr lang="ru-RU" sz="3600" b="1" dirty="0">
                <a:solidFill>
                  <a:srgbClr val="F43F5E"/>
                </a:solidFill>
                <a:latin typeface="Liter" pitchFamily="34" charset="0"/>
              </a:rPr>
              <a:t>7</a:t>
            </a:r>
            <a:r>
              <a:rPr lang="en-US" sz="3600" b="1" dirty="0">
                <a:solidFill>
                  <a:srgbClr val="F43F5E"/>
                </a:solidFill>
                <a:latin typeface="Liter" pitchFamily="34" charset="0"/>
              </a:rPr>
              <a:t>M</a:t>
            </a:r>
            <a:r>
              <a:rPr lang="ru-RU" sz="3600" b="1" dirty="0">
                <a:solidFill>
                  <a:srgbClr val="F43F5E"/>
                </a:solidFill>
                <a:latin typeface="Liter" pitchFamily="34" charset="0"/>
              </a:rPr>
              <a:t> </a:t>
            </a:r>
            <a:r>
              <a:rPr lang="ru-RU" sz="3600" b="1" dirty="0">
                <a:solidFill>
                  <a:srgbClr val="F1F5F9"/>
                </a:solidFill>
              </a:rPr>
              <a:t>годовой выручки</a:t>
            </a:r>
            <a:endParaRPr lang="en-US" sz="3600" b="1" dirty="0">
              <a:solidFill>
                <a:srgbClr val="F1F5F9"/>
              </a:solidFill>
              <a:latin typeface="Liter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1905000"/>
            <a:ext cx="14732000" cy="6477000"/>
          </a:xfrm>
          <a:prstGeom prst="roundRect">
            <a:avLst>
              <a:gd name="adj" fmla="val 6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70000" y="2286000"/>
            <a:ext cx="1371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endParaRPr lang="en-US" sz="180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580EF5C0-DA3D-4D39-B3EF-0D97AF3F0439}"/>
              </a:ext>
            </a:extLst>
          </p:cNvPr>
          <p:cNvSpPr/>
          <p:nvPr/>
        </p:nvSpPr>
        <p:spPr>
          <a:xfrm>
            <a:off x="1148255" y="2210238"/>
            <a:ext cx="3951890" cy="1526190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107B80-74D1-4875-9FFB-8E96F492A771}"/>
              </a:ext>
            </a:extLst>
          </p:cNvPr>
          <p:cNvSpPr txBox="1"/>
          <p:nvPr/>
        </p:nvSpPr>
        <p:spPr>
          <a:xfrm>
            <a:off x="1342697" y="2977797"/>
            <a:ext cx="2577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1F5F9"/>
                </a:solidFill>
              </a:rPr>
              <a:t>клиентов ушли из 7 043</a:t>
            </a:r>
            <a:endParaRPr lang="ru-BY" dirty="0">
              <a:solidFill>
                <a:srgbClr val="F1F5F9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1E82DB-C6E3-4B26-B345-3971772BF4C8}"/>
              </a:ext>
            </a:extLst>
          </p:cNvPr>
          <p:cNvSpPr txBox="1"/>
          <p:nvPr/>
        </p:nvSpPr>
        <p:spPr>
          <a:xfrm>
            <a:off x="1342697" y="2303266"/>
            <a:ext cx="16369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43F5E"/>
                </a:solidFill>
                <a:latin typeface="Liter"/>
              </a:rPr>
              <a:t>1 869</a:t>
            </a:r>
            <a:endParaRPr lang="ru-BY" sz="4000" dirty="0">
              <a:solidFill>
                <a:srgbClr val="F1F5F9"/>
              </a:solidFill>
            </a:endParaRPr>
          </a:p>
        </p:txBody>
      </p:sp>
      <p:graphicFrame>
        <p:nvGraphicFramePr>
          <p:cNvPr id="15" name="Диаграмма 14">
            <a:extLst>
              <a:ext uri="{FF2B5EF4-FFF2-40B4-BE49-F238E27FC236}">
                <a16:creationId xmlns:a16="http://schemas.microsoft.com/office/drawing/2014/main" id="{40777106-CA7A-42C7-8C6A-D6DF16F1C4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8004781"/>
              </p:ext>
            </p:extLst>
          </p:nvPr>
        </p:nvGraphicFramePr>
        <p:xfrm>
          <a:off x="5856890" y="2120497"/>
          <a:ext cx="9056413" cy="5655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">
            <a:extLst>
              <a:ext uri="{FF2B5EF4-FFF2-40B4-BE49-F238E27FC236}">
                <a16:creationId xmlns:a16="http://schemas.microsoft.com/office/drawing/2014/main" id="{C1F73886-634B-4694-BDBC-704859E0FCB4}"/>
              </a:ext>
            </a:extLst>
          </p:cNvPr>
          <p:cNvSpPr/>
          <p:nvPr/>
        </p:nvSpPr>
        <p:spPr>
          <a:xfrm>
            <a:off x="1148255" y="4245576"/>
            <a:ext cx="3951890" cy="1526190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1722B307-1A26-4872-859F-A49505662DEF}"/>
              </a:ext>
            </a:extLst>
          </p:cNvPr>
          <p:cNvSpPr/>
          <p:nvPr/>
        </p:nvSpPr>
        <p:spPr>
          <a:xfrm>
            <a:off x="1148255" y="6170667"/>
            <a:ext cx="3951890" cy="1526190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6CEFEB-60B0-476D-AB8C-9134CD795174}"/>
              </a:ext>
            </a:extLst>
          </p:cNvPr>
          <p:cNvSpPr txBox="1"/>
          <p:nvPr/>
        </p:nvSpPr>
        <p:spPr>
          <a:xfrm>
            <a:off x="1382111" y="5185821"/>
            <a:ext cx="3580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1F5F9"/>
                </a:solidFill>
                <a:latin typeface="QuattrocentoSans"/>
              </a:rPr>
              <a:t>потерянной годовой выручки</a:t>
            </a:r>
            <a:endParaRPr lang="ru-BY" dirty="0">
              <a:solidFill>
                <a:srgbClr val="F1F5F9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747F6A-72C3-4008-9C35-2BBA6CD44296}"/>
              </a:ext>
            </a:extLst>
          </p:cNvPr>
          <p:cNvSpPr txBox="1"/>
          <p:nvPr/>
        </p:nvSpPr>
        <p:spPr>
          <a:xfrm>
            <a:off x="1342696" y="4300785"/>
            <a:ext cx="19444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43F5E"/>
                </a:solidFill>
                <a:latin typeface="Liter"/>
              </a:rPr>
              <a:t>$1,7M</a:t>
            </a:r>
            <a:endParaRPr lang="ru-BY" sz="4000" dirty="0">
              <a:solidFill>
                <a:srgbClr val="F1F5F9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D9638-0EDA-4877-9BA3-96E97DFFDE35}"/>
              </a:ext>
            </a:extLst>
          </p:cNvPr>
          <p:cNvSpPr txBox="1"/>
          <p:nvPr/>
        </p:nvSpPr>
        <p:spPr>
          <a:xfrm>
            <a:off x="1342697" y="7164658"/>
            <a:ext cx="3361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1F5F9"/>
                </a:solidFill>
                <a:latin typeface="QuattrocentoSans"/>
              </a:rPr>
              <a:t>средний чек ушедших</a:t>
            </a:r>
            <a:r>
              <a:rPr lang="en-US" dirty="0">
                <a:solidFill>
                  <a:srgbClr val="F1F5F9"/>
                </a:solidFill>
                <a:latin typeface="QuattrocentoSans"/>
              </a:rPr>
              <a:t>/</a:t>
            </a:r>
            <a:r>
              <a:rPr lang="ru-RU" dirty="0" err="1">
                <a:solidFill>
                  <a:srgbClr val="F1F5F9"/>
                </a:solidFill>
                <a:latin typeface="QuattrocentoSans"/>
              </a:rPr>
              <a:t>мес</a:t>
            </a:r>
            <a:endParaRPr lang="ru-BY" dirty="0">
              <a:solidFill>
                <a:srgbClr val="F1F5F9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B38224-29B2-4F22-9D58-93F375597FB7}"/>
              </a:ext>
            </a:extLst>
          </p:cNvPr>
          <p:cNvSpPr txBox="1"/>
          <p:nvPr/>
        </p:nvSpPr>
        <p:spPr>
          <a:xfrm>
            <a:off x="1342696" y="6280914"/>
            <a:ext cx="23661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43F5E"/>
                </a:solidFill>
                <a:latin typeface="Leelawadee UI Semilight" panose="020B0402040204020203" pitchFamily="34" charset="-34"/>
                <a:cs typeface="Leelawadee UI Semilight" panose="020B0402040204020203" pitchFamily="34" charset="-34"/>
              </a:rPr>
              <a:t>$</a:t>
            </a:r>
            <a:r>
              <a:rPr lang="ru-RU" sz="4000" dirty="0">
                <a:solidFill>
                  <a:srgbClr val="F43F5E"/>
                </a:solidFill>
                <a:latin typeface="QuattrocentoSans"/>
                <a:cs typeface="Leelawadee UI Semilight" panose="020B0402040204020203" pitchFamily="34" charset="-34"/>
              </a:rPr>
              <a:t>7</a:t>
            </a:r>
            <a:r>
              <a:rPr lang="en-US" sz="4000" dirty="0">
                <a:solidFill>
                  <a:srgbClr val="F43F5E"/>
                </a:solidFill>
                <a:latin typeface="QuattrocentoSans"/>
                <a:cs typeface="Leelawadee UI Semilight" panose="020B0402040204020203" pitchFamily="34" charset="-34"/>
              </a:rPr>
              <a:t>4</a:t>
            </a:r>
            <a:endParaRPr lang="ru-BY" sz="4000" dirty="0">
              <a:solidFill>
                <a:srgbClr val="F1F5F9"/>
              </a:solidFill>
              <a:cs typeface="Leelawadee UI Semilight" panose="020B0402040204020203" pitchFamily="34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D8D893-5545-4117-8ACF-D1C9FC525EB0}"/>
              </a:ext>
            </a:extLst>
          </p:cNvPr>
          <p:cNvSpPr txBox="1"/>
          <p:nvPr/>
        </p:nvSpPr>
        <p:spPr>
          <a:xfrm>
            <a:off x="11214538" y="7683819"/>
            <a:ext cx="86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F1F5F9"/>
                </a:solidFill>
              </a:rPr>
              <a:t>ушли</a:t>
            </a:r>
            <a:endParaRPr lang="ru-BY" dirty="0">
              <a:solidFill>
                <a:srgbClr val="F1F5F9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85F1F9-034B-4E36-853C-F4A87EB2ECD2}"/>
              </a:ext>
            </a:extLst>
          </p:cNvPr>
          <p:cNvSpPr txBox="1"/>
          <p:nvPr/>
        </p:nvSpPr>
        <p:spPr>
          <a:xfrm>
            <a:off x="8486228" y="7707430"/>
            <a:ext cx="109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F1F5F9"/>
                </a:solidFill>
              </a:rPr>
              <a:t>остались</a:t>
            </a:r>
            <a:endParaRPr lang="ru-BY" dirty="0">
              <a:solidFill>
                <a:srgbClr val="F1F5F9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DC019E-DAB1-49DB-9E1B-80B419CC322C}"/>
              </a:ext>
            </a:extLst>
          </p:cNvPr>
          <p:cNvSpPr txBox="1"/>
          <p:nvPr/>
        </p:nvSpPr>
        <p:spPr>
          <a:xfrm>
            <a:off x="8595711" y="5424883"/>
            <a:ext cx="109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F1F5F9"/>
                </a:solidFill>
              </a:rPr>
              <a:t>(73,5%)</a:t>
            </a:r>
            <a:endParaRPr lang="ru-BY" dirty="0">
              <a:solidFill>
                <a:srgbClr val="F1F5F9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A16B79-A20B-4551-8D40-C51BECB76E53}"/>
              </a:ext>
            </a:extLst>
          </p:cNvPr>
          <p:cNvSpPr txBox="1"/>
          <p:nvPr/>
        </p:nvSpPr>
        <p:spPr>
          <a:xfrm>
            <a:off x="11103741" y="6749096"/>
            <a:ext cx="1091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F1F5F9"/>
                </a:solidFill>
              </a:rPr>
              <a:t>(26,5%)</a:t>
            </a:r>
            <a:endParaRPr lang="ru-BY" dirty="0">
              <a:solidFill>
                <a:srgbClr val="F1F5F9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1">
          <a:gsLst>
            <a:gs pos="0">
              <a:srgbClr val="0B1120"/>
            </a:gs>
            <a:gs pos="100000">
              <a:srgbClr val="111827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0000" y="6985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3600" b="1" dirty="0">
                <a:solidFill>
                  <a:srgbClr val="F1F5F9"/>
                </a:solidFill>
                <a:latin typeface="Liter" pitchFamily="34" charset="0"/>
              </a:rPr>
              <a:t>Схема данных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905000"/>
            <a:ext cx="5599386" cy="6477000"/>
          </a:xfrm>
          <a:prstGeom prst="roundRect">
            <a:avLst>
              <a:gd name="adj" fmla="val 6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70000" y="2286000"/>
            <a:ext cx="5186218" cy="2664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ДАТАСЕТ</a:t>
            </a:r>
            <a:r>
              <a:rPr lang="en-US" sz="180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r>
              <a:rPr lang="ru-RU" sz="180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Telco Customer Churn </a:t>
            </a:r>
            <a:endParaRPr lang="ru-RU" sz="1800" dirty="0">
              <a:solidFill>
                <a:srgbClr val="F1F5F9"/>
              </a:solidFill>
              <a:latin typeface="QuattrocentoSans" pitchFamily="34" charset="0"/>
              <a:ea typeface="QuattrocentoSans" pitchFamily="34" charset="-122"/>
              <a:cs typeface="QuattrocentoSans" pitchFamily="34" charset="-120"/>
            </a:endParaRPr>
          </a:p>
          <a:p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(IBM Sample) </a:t>
            </a:r>
            <a:endParaRPr lang="en-US" sz="1800" dirty="0">
              <a:solidFill>
                <a:srgbClr val="F1F5F9"/>
              </a:solidFill>
            </a:endParaRPr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ru-RU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7,043 клиента </a:t>
            </a:r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ru-RU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 признак: 3 числовых, 18 категориальных </a:t>
            </a:r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ru-RU" dirty="0">
                <a:solidFill>
                  <a:srgbClr val="F1F5F9"/>
                </a:solidFill>
                <a:ea typeface="QuattrocentoSans" pitchFamily="34" charset="-122"/>
              </a:rPr>
              <a:t>Целевая переменная: </a:t>
            </a:r>
            <a:r>
              <a:rPr lang="ru-RU" b="1" dirty="0" err="1">
                <a:solidFill>
                  <a:srgbClr val="F1F5F9"/>
                </a:solidFill>
                <a:ea typeface="QuattrocentoSans" pitchFamily="34" charset="-122"/>
              </a:rPr>
              <a:t>Churn</a:t>
            </a:r>
            <a:r>
              <a:rPr lang="ru-RU" b="1" dirty="0">
                <a:solidFill>
                  <a:srgbClr val="F1F5F9"/>
                </a:solidFill>
                <a:ea typeface="QuattrocentoSans" pitchFamily="34" charset="-122"/>
              </a:rPr>
              <a:t> (</a:t>
            </a:r>
            <a:r>
              <a:rPr lang="ru-RU" b="1" dirty="0" err="1">
                <a:solidFill>
                  <a:srgbClr val="F1F5F9"/>
                </a:solidFill>
                <a:ea typeface="QuattrocentoSans" pitchFamily="34" charset="-122"/>
              </a:rPr>
              <a:t>Yes</a:t>
            </a:r>
            <a:r>
              <a:rPr lang="ru-RU" b="1" dirty="0">
                <a:solidFill>
                  <a:srgbClr val="F1F5F9"/>
                </a:solidFill>
                <a:ea typeface="QuattrocentoSans" pitchFamily="34" charset="-122"/>
              </a:rPr>
              <a:t>/No) </a:t>
            </a:r>
            <a:endParaRPr lang="en-US" b="1" dirty="0">
              <a:solidFill>
                <a:srgbClr val="F1F5F9"/>
              </a:solidFill>
              <a:latin typeface="QuattrocentoSans" pitchFamily="34" charset="0"/>
              <a:ea typeface="QuattrocentoSans" pitchFamily="34" charset="-122"/>
            </a:endParaRPr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B7ADE490-C5E7-498F-A706-DDBED85CA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298236"/>
              </p:ext>
            </p:extLst>
          </p:nvPr>
        </p:nvGraphicFramePr>
        <p:xfrm>
          <a:off x="6632186" y="2286000"/>
          <a:ext cx="8041290" cy="38690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4580">
                  <a:extLst>
                    <a:ext uri="{9D8B030D-6E8A-4147-A177-3AD203B41FA5}">
                      <a16:colId xmlns:a16="http://schemas.microsoft.com/office/drawing/2014/main" val="424941501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418807362"/>
                    </a:ext>
                  </a:extLst>
                </a:gridCol>
                <a:gridCol w="1856110">
                  <a:extLst>
                    <a:ext uri="{9D8B030D-6E8A-4147-A177-3AD203B41FA5}">
                      <a16:colId xmlns:a16="http://schemas.microsoft.com/office/drawing/2014/main" val="694782087"/>
                    </a:ext>
                  </a:extLst>
                </a:gridCol>
              </a:tblGrid>
              <a:tr h="585168">
                <a:tc>
                  <a:txBody>
                    <a:bodyPr/>
                    <a:lstStyle/>
                    <a:p>
                      <a:pPr algn="ctr" fontAlgn="t"/>
                      <a:r>
                        <a:rPr lang="ru-RU" sz="1800" kern="1200">
                          <a:solidFill>
                            <a:srgbClr val="38BDF8"/>
                          </a:solidFill>
                          <a:ea typeface="QuattrocentoSans" pitchFamily="34" charset="-122"/>
                        </a:rPr>
                        <a:t>Категория</a:t>
                      </a:r>
                      <a:endParaRPr lang="ru-RU" sz="1800" kern="1200">
                        <a:solidFill>
                          <a:srgbClr val="38BDF8"/>
                        </a:solidFill>
                        <a:latin typeface="Inherit"/>
                        <a:ea typeface="QuattrocentoSans" pitchFamily="34" charset="-122"/>
                      </a:endParaRPr>
                    </a:p>
                  </a:txBody>
                  <a:tcPr marL="57150" marR="6350" marT="6350" marB="0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800" kern="1200" dirty="0">
                          <a:solidFill>
                            <a:srgbClr val="38BDF8"/>
                          </a:solidFill>
                          <a:ea typeface="QuattrocentoSans" pitchFamily="34" charset="-122"/>
                        </a:rPr>
                        <a:t>Признаки</a:t>
                      </a:r>
                      <a:endParaRPr lang="ru-RU" sz="1800" kern="1200" dirty="0">
                        <a:solidFill>
                          <a:srgbClr val="38BDF8"/>
                        </a:solidFill>
                        <a:latin typeface="Inherit"/>
                        <a:ea typeface="QuattrocentoSans" pitchFamily="34" charset="-122"/>
                      </a:endParaRPr>
                    </a:p>
                  </a:txBody>
                  <a:tcPr marL="57150" marR="6350" marT="6350" marB="0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800" kern="1200" dirty="0">
                          <a:solidFill>
                            <a:srgbClr val="38BDF8"/>
                          </a:solidFill>
                          <a:ea typeface="QuattrocentoSans" pitchFamily="34" charset="-122"/>
                        </a:rPr>
                        <a:t>Тип</a:t>
                      </a:r>
                      <a:endParaRPr lang="ru-RU" sz="1800" kern="1200" dirty="0">
                        <a:solidFill>
                          <a:srgbClr val="38BDF8"/>
                        </a:solidFill>
                        <a:latin typeface="Inherit"/>
                        <a:ea typeface="QuattrocentoSans" pitchFamily="34" charset="-122"/>
                      </a:endParaRPr>
                    </a:p>
                  </a:txBody>
                  <a:tcPr marL="57150" marR="6350" marT="6350" marB="0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082140"/>
                  </a:ext>
                </a:extLst>
              </a:tr>
              <a:tr h="875745"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kern="1200">
                          <a:solidFill>
                            <a:srgbClr val="F1F5F9"/>
                          </a:solidFill>
                          <a:ea typeface="QuattrocentoSans" pitchFamily="34" charset="-122"/>
                        </a:rPr>
                        <a:t>Демография</a:t>
                      </a:r>
                      <a:endParaRPr lang="ru-RU" sz="1600" kern="1200">
                        <a:solidFill>
                          <a:srgbClr val="F1F5F9"/>
                        </a:solidFill>
                        <a:latin typeface="Inherit"/>
                        <a:ea typeface="QuattrocentoSans" pitchFamily="34" charset="-122"/>
                      </a:endParaRPr>
                    </a:p>
                  </a:txBody>
                  <a:tcPr marL="57150" marR="6350" marT="6350" marB="0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kern="1200" dirty="0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Gender, </a:t>
                      </a:r>
                      <a:r>
                        <a:rPr lang="en-US" sz="1600" kern="1200" dirty="0" err="1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SeniorCitizen</a:t>
                      </a:r>
                      <a:r>
                        <a:rPr lang="en-US" sz="1600" kern="1200" dirty="0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, Partner, Dependents</a:t>
                      </a:r>
                    </a:p>
                  </a:txBody>
                  <a:tcPr marL="57150" marR="6350" marT="6350" marB="0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kern="1200">
                          <a:solidFill>
                            <a:srgbClr val="F1F5F9"/>
                          </a:solidFill>
                          <a:ea typeface="QuattrocentoSans" pitchFamily="34" charset="-122"/>
                        </a:rPr>
                        <a:t>Категориальные</a:t>
                      </a:r>
                      <a:endParaRPr lang="ru-RU" sz="1600" kern="1200">
                        <a:solidFill>
                          <a:srgbClr val="F1F5F9"/>
                        </a:solidFill>
                        <a:latin typeface="Inherit"/>
                        <a:ea typeface="QuattrocentoSans" pitchFamily="34" charset="-122"/>
                      </a:endParaRPr>
                    </a:p>
                  </a:txBody>
                  <a:tcPr marL="57150" marR="6350" marT="6350" marB="0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413531"/>
                  </a:ext>
                </a:extLst>
              </a:tr>
              <a:tr h="947230"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kern="1200">
                          <a:solidFill>
                            <a:srgbClr val="F1F5F9"/>
                          </a:solidFill>
                          <a:ea typeface="QuattrocentoSans" pitchFamily="34" charset="-122"/>
                        </a:rPr>
                        <a:t>Услуги</a:t>
                      </a:r>
                      <a:endParaRPr lang="ru-RU" sz="1600" kern="1200">
                        <a:solidFill>
                          <a:srgbClr val="F1F5F9"/>
                        </a:solidFill>
                        <a:latin typeface="Inherit"/>
                        <a:ea typeface="QuattrocentoSans" pitchFamily="34" charset="-122"/>
                      </a:endParaRPr>
                    </a:p>
                  </a:txBody>
                  <a:tcPr marL="57150" marR="6350" marT="6350" marB="0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kern="1200" dirty="0" err="1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PhoneService</a:t>
                      </a:r>
                      <a:r>
                        <a:rPr lang="en-US" sz="1600" kern="1200" dirty="0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, </a:t>
                      </a:r>
                      <a:r>
                        <a:rPr lang="en-US" sz="1600" kern="1200" dirty="0" err="1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MultipleLines</a:t>
                      </a:r>
                      <a:r>
                        <a:rPr lang="en-US" sz="1600" kern="1200" dirty="0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, </a:t>
                      </a:r>
                      <a:r>
                        <a:rPr lang="en-US" sz="1600" kern="1200" dirty="0" err="1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InternetService</a:t>
                      </a:r>
                      <a:r>
                        <a:rPr lang="en-US" sz="1600" kern="1200" dirty="0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, </a:t>
                      </a:r>
                      <a:r>
                        <a:rPr lang="en-US" sz="1600" kern="1200" dirty="0" err="1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OnlineSecurity</a:t>
                      </a:r>
                      <a:r>
                        <a:rPr lang="en-US" sz="1600" kern="1200" dirty="0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, </a:t>
                      </a:r>
                      <a:r>
                        <a:rPr lang="en-US" sz="1600" kern="1200" dirty="0" err="1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OnlineBackup</a:t>
                      </a:r>
                      <a:r>
                        <a:rPr lang="en-US" sz="1600" kern="1200" dirty="0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, </a:t>
                      </a:r>
                      <a:r>
                        <a:rPr lang="en-US" sz="1600" kern="1200" dirty="0" err="1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DeviceProtection</a:t>
                      </a:r>
                      <a:r>
                        <a:rPr lang="en-US" sz="1600" kern="1200" dirty="0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, </a:t>
                      </a:r>
                      <a:r>
                        <a:rPr lang="en-US" sz="1600" kern="1200" dirty="0" err="1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TechSupport</a:t>
                      </a:r>
                      <a:r>
                        <a:rPr lang="en-US" sz="1600" kern="1200" dirty="0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, </a:t>
                      </a:r>
                      <a:r>
                        <a:rPr lang="en-US" sz="1600" kern="1200" dirty="0" err="1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StreamingTV</a:t>
                      </a:r>
                      <a:r>
                        <a:rPr lang="en-US" sz="1600" kern="1200" dirty="0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, </a:t>
                      </a:r>
                      <a:r>
                        <a:rPr lang="en-US" sz="1600" kern="1200" dirty="0" err="1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StreamingMovies</a:t>
                      </a:r>
                      <a:endParaRPr lang="en-US" sz="1600" kern="1200" dirty="0">
                        <a:solidFill>
                          <a:srgbClr val="F1F5F9"/>
                        </a:solidFill>
                        <a:latin typeface="QuattrocentoSans"/>
                        <a:ea typeface="QuattrocentoSans" pitchFamily="34" charset="-122"/>
                      </a:endParaRPr>
                    </a:p>
                  </a:txBody>
                  <a:tcPr marL="57150" marR="6350" marT="6350" marB="0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kern="1200">
                          <a:solidFill>
                            <a:srgbClr val="F1F5F9"/>
                          </a:solidFill>
                          <a:ea typeface="QuattrocentoSans" pitchFamily="34" charset="-122"/>
                        </a:rPr>
                        <a:t>Категориальные</a:t>
                      </a:r>
                      <a:endParaRPr lang="ru-RU" sz="1600" kern="1200">
                        <a:solidFill>
                          <a:srgbClr val="F1F5F9"/>
                        </a:solidFill>
                        <a:latin typeface="Inherit"/>
                        <a:ea typeface="QuattrocentoSans" pitchFamily="34" charset="-122"/>
                      </a:endParaRPr>
                    </a:p>
                  </a:txBody>
                  <a:tcPr marL="57150" marR="6350" marT="6350" marB="0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546424"/>
                  </a:ext>
                </a:extLst>
              </a:tr>
              <a:tr h="875745"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kern="1200">
                          <a:solidFill>
                            <a:srgbClr val="F1F5F9"/>
                          </a:solidFill>
                          <a:ea typeface="QuattrocentoSans" pitchFamily="34" charset="-122"/>
                        </a:rPr>
                        <a:t>Аккаунт</a:t>
                      </a:r>
                      <a:endParaRPr lang="ru-RU" sz="1600" kern="1200">
                        <a:solidFill>
                          <a:srgbClr val="F1F5F9"/>
                        </a:solidFill>
                        <a:latin typeface="Inherit"/>
                        <a:ea typeface="QuattrocentoSans" pitchFamily="34" charset="-122"/>
                      </a:endParaRPr>
                    </a:p>
                  </a:txBody>
                  <a:tcPr marL="57150" marR="6350" marT="6350" marB="0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kern="1200" dirty="0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Tenure, Contract, </a:t>
                      </a:r>
                      <a:r>
                        <a:rPr lang="en-US" sz="1600" kern="1200" dirty="0" err="1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PaperlessBilling</a:t>
                      </a:r>
                      <a:r>
                        <a:rPr lang="en-US" sz="1600" kern="1200" dirty="0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, </a:t>
                      </a:r>
                      <a:r>
                        <a:rPr lang="en-US" sz="1600" kern="1200" dirty="0" err="1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PaymentMethod</a:t>
                      </a:r>
                      <a:endParaRPr lang="en-US" sz="1600" kern="1200" dirty="0">
                        <a:solidFill>
                          <a:srgbClr val="F1F5F9"/>
                        </a:solidFill>
                        <a:latin typeface="QuattrocentoSans"/>
                        <a:ea typeface="QuattrocentoSans" pitchFamily="34" charset="-122"/>
                      </a:endParaRPr>
                    </a:p>
                  </a:txBody>
                  <a:tcPr marL="57150" marR="6350" marT="6350" marB="0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kern="1200" dirty="0">
                          <a:solidFill>
                            <a:srgbClr val="F1F5F9"/>
                          </a:solidFill>
                          <a:ea typeface="QuattrocentoSans" pitchFamily="34" charset="-122"/>
                        </a:rPr>
                        <a:t>Числовые + категориальные</a:t>
                      </a:r>
                      <a:endParaRPr lang="ru-RU" sz="1600" kern="1200" dirty="0">
                        <a:solidFill>
                          <a:srgbClr val="F1F5F9"/>
                        </a:solidFill>
                        <a:latin typeface="Inherit"/>
                        <a:ea typeface="QuattrocentoSans" pitchFamily="34" charset="-122"/>
                      </a:endParaRPr>
                    </a:p>
                  </a:txBody>
                  <a:tcPr marL="57150" marR="6350" marT="6350" marB="0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817339"/>
                  </a:ext>
                </a:extLst>
              </a:tr>
              <a:tr h="585168"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kern="1200" dirty="0">
                          <a:solidFill>
                            <a:srgbClr val="F1F5F9"/>
                          </a:solidFill>
                          <a:ea typeface="QuattrocentoSans" pitchFamily="34" charset="-122"/>
                        </a:rPr>
                        <a:t>Финансы</a:t>
                      </a:r>
                      <a:endParaRPr lang="ru-RU" sz="1600" kern="1200" dirty="0">
                        <a:solidFill>
                          <a:srgbClr val="F1F5F9"/>
                        </a:solidFill>
                        <a:latin typeface="Inherit"/>
                        <a:ea typeface="QuattrocentoSans" pitchFamily="34" charset="-122"/>
                      </a:endParaRPr>
                    </a:p>
                  </a:txBody>
                  <a:tcPr marL="57150" marR="6350" marT="6350" marB="0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kern="1200">
                          <a:solidFill>
                            <a:srgbClr val="F1F5F9"/>
                          </a:solidFill>
                          <a:latin typeface="QuattrocentoSans"/>
                          <a:ea typeface="QuattrocentoSans" pitchFamily="34" charset="-122"/>
                        </a:rPr>
                        <a:t>MonthlyCharges, TotalCharges</a:t>
                      </a:r>
                    </a:p>
                  </a:txBody>
                  <a:tcPr marL="57150" marR="6350" marT="6350" marB="0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600" kern="1200" dirty="0">
                          <a:solidFill>
                            <a:srgbClr val="F1F5F9"/>
                          </a:solidFill>
                          <a:ea typeface="QuattrocentoSans" pitchFamily="34" charset="-122"/>
                        </a:rPr>
                        <a:t>Числовые</a:t>
                      </a:r>
                      <a:endParaRPr lang="ru-RU" sz="1600" kern="1200" dirty="0">
                        <a:solidFill>
                          <a:srgbClr val="F1F5F9"/>
                        </a:solidFill>
                        <a:latin typeface="Inherit"/>
                        <a:ea typeface="QuattrocentoSans" pitchFamily="34" charset="-122"/>
                      </a:endParaRPr>
                    </a:p>
                  </a:txBody>
                  <a:tcPr marL="57150" marR="6350" marT="6350" marB="0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2866792"/>
                  </a:ext>
                </a:extLst>
              </a:tr>
            </a:tbl>
          </a:graphicData>
        </a:graphic>
      </p:graphicFrame>
      <p:sp>
        <p:nvSpPr>
          <p:cNvPr id="12" name="Text 3">
            <a:extLst>
              <a:ext uri="{FF2B5EF4-FFF2-40B4-BE49-F238E27FC236}">
                <a16:creationId xmlns:a16="http://schemas.microsoft.com/office/drawing/2014/main" id="{3B891CF6-801C-49B4-9E27-A01A6A16D45D}"/>
              </a:ext>
            </a:extLst>
          </p:cNvPr>
          <p:cNvSpPr/>
          <p:nvPr/>
        </p:nvSpPr>
        <p:spPr>
          <a:xfrm>
            <a:off x="1270000" y="5089635"/>
            <a:ext cx="4374055" cy="2427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ru-RU" dirty="0">
                <a:solidFill>
                  <a:srgbClr val="F1F5F9"/>
                </a:solidFill>
                <a:ea typeface="QuattrocentoSans" pitchFamily="34" charset="-122"/>
              </a:rPr>
              <a:t>Пропусков нет. </a:t>
            </a:r>
          </a:p>
          <a:p>
            <a:pPr>
              <a:lnSpc>
                <a:spcPct val="160000"/>
              </a:lnSpc>
            </a:pPr>
            <a:r>
              <a:rPr lang="ru-RU" dirty="0">
                <a:solidFill>
                  <a:srgbClr val="F1F5F9"/>
                </a:solidFill>
                <a:ea typeface="QuattrocentoSans" pitchFamily="34" charset="-122"/>
              </a:rPr>
              <a:t>Данные не сбалансированы. </a:t>
            </a:r>
          </a:p>
          <a:p>
            <a:pPr>
              <a:lnSpc>
                <a:spcPct val="160000"/>
              </a:lnSpc>
            </a:pPr>
            <a:r>
              <a:rPr lang="ru-RU" dirty="0">
                <a:solidFill>
                  <a:srgbClr val="F1F5F9"/>
                </a:solidFill>
                <a:ea typeface="QuattrocentoSans" pitchFamily="34" charset="-122"/>
              </a:rPr>
              <a:t>Клиенты распределены неравномерно по оттоку.</a:t>
            </a:r>
            <a:endParaRPr lang="en-US" dirty="0">
              <a:solidFill>
                <a:srgbClr val="F1F5F9"/>
              </a:solidFill>
              <a:ea typeface="QuattrocentoSans" pitchFamily="34" charset="-122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D3A4CA2-8852-49D5-8C82-2987B9B86BE1}"/>
              </a:ext>
            </a:extLst>
          </p:cNvPr>
          <p:cNvSpPr/>
          <p:nvPr/>
        </p:nvSpPr>
        <p:spPr>
          <a:xfrm>
            <a:off x="14224000" y="8357755"/>
            <a:ext cx="1270000" cy="38100"/>
          </a:xfrm>
          <a:prstGeom prst="rect">
            <a:avLst/>
          </a:prstGeom>
          <a:gradFill flip="none" rotWithShape="1">
            <a:gsLst>
              <a:gs pos="0">
                <a:srgbClr val="38BDF8"/>
              </a:gs>
              <a:gs pos="100000">
                <a:srgbClr val="F43F5E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120"/>
            </a:gs>
            <a:gs pos="100000">
              <a:srgbClr val="111827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4478000" cy="1143000"/>
          </a:xfrm>
          <a:prstGeom prst="roundRect">
            <a:avLst>
              <a:gd name="adj" fmla="val 6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0000" y="6985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3600" b="1" dirty="0">
                <a:solidFill>
                  <a:srgbClr val="F1F5F9"/>
                </a:solidFill>
              </a:rPr>
              <a:t>Методология: </a:t>
            </a:r>
            <a:r>
              <a:rPr lang="ru-RU" sz="3600" dirty="0">
                <a:solidFill>
                  <a:srgbClr val="F1F5F9"/>
                </a:solidFill>
                <a:effectLst/>
              </a:rPr>
              <a:t>от EDA к экономическому эффекту</a:t>
            </a:r>
            <a:endParaRPr lang="ru-RU" sz="360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F7F6D70D-7931-420F-B9DC-0165CD64CC71}"/>
              </a:ext>
            </a:extLst>
          </p:cNvPr>
          <p:cNvSpPr/>
          <p:nvPr/>
        </p:nvSpPr>
        <p:spPr>
          <a:xfrm>
            <a:off x="762000" y="1835369"/>
            <a:ext cx="7048500" cy="3238500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FA0E2026-A317-435E-AF14-487F6F5FDCF4}"/>
              </a:ext>
            </a:extLst>
          </p:cNvPr>
          <p:cNvSpPr/>
          <p:nvPr/>
        </p:nvSpPr>
        <p:spPr>
          <a:xfrm>
            <a:off x="1143000" y="215286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1475" y="185738"/>
                </a:moveTo>
                <a:cubicBezTo>
                  <a:pt x="371475" y="226725"/>
                  <a:pt x="358170" y="264587"/>
                  <a:pt x="335756" y="295305"/>
                </a:cubicBezTo>
                <a:lnTo>
                  <a:pt x="448806" y="408444"/>
                </a:lnTo>
                <a:cubicBezTo>
                  <a:pt x="459968" y="419606"/>
                  <a:pt x="459968" y="437733"/>
                  <a:pt x="448806" y="448895"/>
                </a:cubicBezTo>
                <a:cubicBezTo>
                  <a:pt x="437644" y="460058"/>
                  <a:pt x="419517" y="460058"/>
                  <a:pt x="408355" y="448895"/>
                </a:cubicBezTo>
                <a:lnTo>
                  <a:pt x="295305" y="335756"/>
                </a:lnTo>
                <a:cubicBezTo>
                  <a:pt x="264587" y="358170"/>
                  <a:pt x="226725" y="371475"/>
                  <a:pt x="185738" y="371475"/>
                </a:cubicBezTo>
                <a:cubicBezTo>
                  <a:pt x="83135" y="371475"/>
                  <a:pt x="0" y="288340"/>
                  <a:pt x="0" y="185738"/>
                </a:cubicBezTo>
                <a:cubicBezTo>
                  <a:pt x="0" y="83135"/>
                  <a:pt x="83135" y="0"/>
                  <a:pt x="185738" y="0"/>
                </a:cubicBezTo>
                <a:cubicBezTo>
                  <a:pt x="288340" y="0"/>
                  <a:pt x="371475" y="83135"/>
                  <a:pt x="371475" y="185738"/>
                </a:cubicBezTo>
                <a:close/>
                <a:moveTo>
                  <a:pt x="92869" y="192881"/>
                </a:moveTo>
                <a:lnTo>
                  <a:pt x="92869" y="250031"/>
                </a:lnTo>
                <a:cubicBezTo>
                  <a:pt x="92869" y="261908"/>
                  <a:pt x="102424" y="271463"/>
                  <a:pt x="114300" y="271463"/>
                </a:cubicBezTo>
                <a:cubicBezTo>
                  <a:pt x="126176" y="271463"/>
                  <a:pt x="135731" y="261908"/>
                  <a:pt x="135731" y="250031"/>
                </a:cubicBezTo>
                <a:lnTo>
                  <a:pt x="135731" y="192881"/>
                </a:lnTo>
                <a:cubicBezTo>
                  <a:pt x="135731" y="181005"/>
                  <a:pt x="126176" y="171450"/>
                  <a:pt x="114300" y="171450"/>
                </a:cubicBezTo>
                <a:cubicBezTo>
                  <a:pt x="102424" y="171450"/>
                  <a:pt x="92869" y="181005"/>
                  <a:pt x="92869" y="192881"/>
                </a:cubicBezTo>
                <a:close/>
                <a:moveTo>
                  <a:pt x="164306" y="107156"/>
                </a:moveTo>
                <a:lnTo>
                  <a:pt x="164306" y="250031"/>
                </a:lnTo>
                <a:cubicBezTo>
                  <a:pt x="164306" y="261908"/>
                  <a:pt x="173861" y="271463"/>
                  <a:pt x="185738" y="271463"/>
                </a:cubicBezTo>
                <a:cubicBezTo>
                  <a:pt x="197614" y="271463"/>
                  <a:pt x="207169" y="261908"/>
                  <a:pt x="207169" y="250031"/>
                </a:cubicBezTo>
                <a:lnTo>
                  <a:pt x="207169" y="107156"/>
                </a:lnTo>
                <a:cubicBezTo>
                  <a:pt x="207169" y="95280"/>
                  <a:pt x="197614" y="85725"/>
                  <a:pt x="185738" y="85725"/>
                </a:cubicBezTo>
                <a:cubicBezTo>
                  <a:pt x="173861" y="85725"/>
                  <a:pt x="164306" y="95280"/>
                  <a:pt x="164306" y="107156"/>
                </a:cubicBezTo>
                <a:close/>
                <a:moveTo>
                  <a:pt x="235744" y="164306"/>
                </a:moveTo>
                <a:lnTo>
                  <a:pt x="235744" y="250031"/>
                </a:lnTo>
                <a:cubicBezTo>
                  <a:pt x="235744" y="261908"/>
                  <a:pt x="245299" y="271463"/>
                  <a:pt x="257175" y="271463"/>
                </a:cubicBezTo>
                <a:cubicBezTo>
                  <a:pt x="269051" y="271463"/>
                  <a:pt x="278606" y="261908"/>
                  <a:pt x="278606" y="250031"/>
                </a:cubicBezTo>
                <a:lnTo>
                  <a:pt x="278606" y="164306"/>
                </a:lnTo>
                <a:cubicBezTo>
                  <a:pt x="278606" y="152430"/>
                  <a:pt x="269051" y="142875"/>
                  <a:pt x="257175" y="142875"/>
                </a:cubicBezTo>
                <a:cubicBezTo>
                  <a:pt x="245299" y="142875"/>
                  <a:pt x="235744" y="152430"/>
                  <a:pt x="235744" y="164306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7C60FA68-7E6A-4642-BB78-59CF80FF110F}"/>
              </a:ext>
            </a:extLst>
          </p:cNvPr>
          <p:cNvSpPr/>
          <p:nvPr/>
        </p:nvSpPr>
        <p:spPr>
          <a:xfrm>
            <a:off x="1778000" y="2152869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81821E0E-F164-49DE-A888-4B951892C3AA}"/>
              </a:ext>
            </a:extLst>
          </p:cNvPr>
          <p:cNvSpPr/>
          <p:nvPr/>
        </p:nvSpPr>
        <p:spPr>
          <a:xfrm>
            <a:off x="1143000" y="2787869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EDA — поиск паттернов</a:t>
            </a:r>
            <a:endParaRPr lang="en-US" sz="16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0A5BC326-FBFB-448C-9443-22D6EFF16E39}"/>
              </a:ext>
            </a:extLst>
          </p:cNvPr>
          <p:cNvSpPr/>
          <p:nvPr/>
        </p:nvSpPr>
        <p:spPr>
          <a:xfrm>
            <a:off x="1143000" y="3295869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en-US" sz="1800" dirty="0" err="1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Распределение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признаков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Корреляции с оттоком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Выявление ключевых драйверов</a:t>
            </a:r>
            <a:endParaRPr lang="en-US" sz="180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13BE1F4B-0014-474A-84D9-0E7D150F46CD}"/>
              </a:ext>
            </a:extLst>
          </p:cNvPr>
          <p:cNvSpPr/>
          <p:nvPr/>
        </p:nvSpPr>
        <p:spPr>
          <a:xfrm>
            <a:off x="8191500" y="1835369"/>
            <a:ext cx="7048500" cy="3238500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E8B5FD05-B5F1-4602-A038-441CD64B1D2F}"/>
              </a:ext>
            </a:extLst>
          </p:cNvPr>
          <p:cNvSpPr/>
          <p:nvPr/>
        </p:nvSpPr>
        <p:spPr>
          <a:xfrm>
            <a:off x="8543925" y="2152869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7150" y="0"/>
                </a:moveTo>
                <a:cubicBezTo>
                  <a:pt x="25628" y="0"/>
                  <a:pt x="0" y="25628"/>
                  <a:pt x="0" y="57150"/>
                </a:cubicBezTo>
                <a:lnTo>
                  <a:pt x="0" y="121444"/>
                </a:lnTo>
                <a:cubicBezTo>
                  <a:pt x="0" y="133320"/>
                  <a:pt x="9555" y="142875"/>
                  <a:pt x="21431" y="142875"/>
                </a:cubicBezTo>
                <a:cubicBezTo>
                  <a:pt x="33308" y="142875"/>
                  <a:pt x="42863" y="133320"/>
                  <a:pt x="42863" y="121444"/>
                </a:cubicBezTo>
                <a:lnTo>
                  <a:pt x="42863" y="57150"/>
                </a:lnTo>
                <a:cubicBezTo>
                  <a:pt x="42863" y="49292"/>
                  <a:pt x="49292" y="42863"/>
                  <a:pt x="57150" y="42863"/>
                </a:cubicBezTo>
                <a:lnTo>
                  <a:pt x="121444" y="42863"/>
                </a:lnTo>
                <a:cubicBezTo>
                  <a:pt x="133320" y="42863"/>
                  <a:pt x="142875" y="33308"/>
                  <a:pt x="142875" y="21431"/>
                </a:cubicBezTo>
                <a:cubicBezTo>
                  <a:pt x="142875" y="9555"/>
                  <a:pt x="133320" y="0"/>
                  <a:pt x="121444" y="0"/>
                </a:cubicBezTo>
                <a:lnTo>
                  <a:pt x="57150" y="0"/>
                </a:lnTo>
                <a:close/>
                <a:moveTo>
                  <a:pt x="392906" y="0"/>
                </a:moveTo>
                <a:cubicBezTo>
                  <a:pt x="381030" y="0"/>
                  <a:pt x="371475" y="9555"/>
                  <a:pt x="371475" y="21431"/>
                </a:cubicBezTo>
                <a:cubicBezTo>
                  <a:pt x="371475" y="33308"/>
                  <a:pt x="381030" y="42863"/>
                  <a:pt x="392906" y="42863"/>
                </a:cubicBezTo>
                <a:lnTo>
                  <a:pt x="457200" y="42863"/>
                </a:lnTo>
                <a:cubicBezTo>
                  <a:pt x="465058" y="42863"/>
                  <a:pt x="471488" y="49292"/>
                  <a:pt x="471488" y="57150"/>
                </a:cubicBezTo>
                <a:lnTo>
                  <a:pt x="471488" y="121444"/>
                </a:lnTo>
                <a:cubicBezTo>
                  <a:pt x="471488" y="133320"/>
                  <a:pt x="481042" y="142875"/>
                  <a:pt x="492919" y="142875"/>
                </a:cubicBezTo>
                <a:cubicBezTo>
                  <a:pt x="504795" y="142875"/>
                  <a:pt x="514350" y="133320"/>
                  <a:pt x="514350" y="121444"/>
                </a:cubicBezTo>
                <a:lnTo>
                  <a:pt x="514350" y="57150"/>
                </a:lnTo>
                <a:cubicBezTo>
                  <a:pt x="514350" y="25628"/>
                  <a:pt x="488722" y="0"/>
                  <a:pt x="457200" y="0"/>
                </a:cubicBezTo>
                <a:lnTo>
                  <a:pt x="392906" y="0"/>
                </a:lnTo>
                <a:close/>
                <a:moveTo>
                  <a:pt x="42863" y="335756"/>
                </a:moveTo>
                <a:cubicBezTo>
                  <a:pt x="42863" y="323880"/>
                  <a:pt x="33308" y="314325"/>
                  <a:pt x="21431" y="314325"/>
                </a:cubicBezTo>
                <a:cubicBezTo>
                  <a:pt x="9555" y="314325"/>
                  <a:pt x="0" y="323880"/>
                  <a:pt x="0" y="335756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121444" y="457200"/>
                </a:lnTo>
                <a:cubicBezTo>
                  <a:pt x="133320" y="457200"/>
                  <a:pt x="142875" y="447645"/>
                  <a:pt x="142875" y="435769"/>
                </a:cubicBezTo>
                <a:cubicBezTo>
                  <a:pt x="142875" y="423892"/>
                  <a:pt x="133320" y="414338"/>
                  <a:pt x="121444" y="414338"/>
                </a:cubicBezTo>
                <a:lnTo>
                  <a:pt x="57150" y="414338"/>
                </a:lnTo>
                <a:cubicBezTo>
                  <a:pt x="49292" y="414338"/>
                  <a:pt x="42863" y="407908"/>
                  <a:pt x="42863" y="400050"/>
                </a:cubicBezTo>
                <a:lnTo>
                  <a:pt x="42863" y="335756"/>
                </a:lnTo>
                <a:close/>
                <a:moveTo>
                  <a:pt x="514350" y="335756"/>
                </a:moveTo>
                <a:cubicBezTo>
                  <a:pt x="514350" y="323880"/>
                  <a:pt x="504795" y="314325"/>
                  <a:pt x="492919" y="314325"/>
                </a:cubicBezTo>
                <a:cubicBezTo>
                  <a:pt x="481042" y="314325"/>
                  <a:pt x="471488" y="323880"/>
                  <a:pt x="471488" y="335756"/>
                </a:cubicBezTo>
                <a:lnTo>
                  <a:pt x="471488" y="400050"/>
                </a:lnTo>
                <a:cubicBezTo>
                  <a:pt x="471488" y="407908"/>
                  <a:pt x="465058" y="414338"/>
                  <a:pt x="457200" y="414338"/>
                </a:cubicBezTo>
                <a:lnTo>
                  <a:pt x="392906" y="414338"/>
                </a:lnTo>
                <a:cubicBezTo>
                  <a:pt x="381030" y="414338"/>
                  <a:pt x="371475" y="423892"/>
                  <a:pt x="371475" y="435769"/>
                </a:cubicBezTo>
                <a:cubicBezTo>
                  <a:pt x="371475" y="447645"/>
                  <a:pt x="381030" y="457200"/>
                  <a:pt x="392906" y="457200"/>
                </a:cubicBezTo>
                <a:lnTo>
                  <a:pt x="457200" y="457200"/>
                </a:lnTo>
                <a:cubicBezTo>
                  <a:pt x="488722" y="457200"/>
                  <a:pt x="514350" y="431572"/>
                  <a:pt x="514350" y="400050"/>
                </a:cubicBezTo>
                <a:lnTo>
                  <a:pt x="514350" y="335756"/>
                </a:lnTo>
                <a:close/>
                <a:moveTo>
                  <a:pt x="257175" y="192881"/>
                </a:moveTo>
                <a:cubicBezTo>
                  <a:pt x="284774" y="192881"/>
                  <a:pt x="307181" y="170474"/>
                  <a:pt x="307181" y="142875"/>
                </a:cubicBezTo>
                <a:cubicBezTo>
                  <a:pt x="307181" y="115276"/>
                  <a:pt x="284774" y="92869"/>
                  <a:pt x="257175" y="92869"/>
                </a:cubicBezTo>
                <a:cubicBezTo>
                  <a:pt x="229576" y="92869"/>
                  <a:pt x="207169" y="115276"/>
                  <a:pt x="207169" y="142875"/>
                </a:cubicBezTo>
                <a:cubicBezTo>
                  <a:pt x="207169" y="170474"/>
                  <a:pt x="229576" y="192881"/>
                  <a:pt x="257175" y="192881"/>
                </a:cubicBezTo>
                <a:close/>
                <a:moveTo>
                  <a:pt x="257175" y="228600"/>
                </a:moveTo>
                <a:cubicBezTo>
                  <a:pt x="209848" y="228600"/>
                  <a:pt x="171450" y="266998"/>
                  <a:pt x="171450" y="314325"/>
                </a:cubicBezTo>
                <a:lnTo>
                  <a:pt x="171450" y="335756"/>
                </a:lnTo>
                <a:cubicBezTo>
                  <a:pt x="171450" y="347633"/>
                  <a:pt x="181005" y="357188"/>
                  <a:pt x="192881" y="357188"/>
                </a:cubicBezTo>
                <a:lnTo>
                  <a:pt x="321469" y="357188"/>
                </a:lnTo>
                <a:cubicBezTo>
                  <a:pt x="333345" y="357188"/>
                  <a:pt x="342900" y="347633"/>
                  <a:pt x="342900" y="335756"/>
                </a:cubicBezTo>
                <a:lnTo>
                  <a:pt x="342900" y="314325"/>
                </a:lnTo>
                <a:cubicBezTo>
                  <a:pt x="342900" y="266998"/>
                  <a:pt x="304502" y="228600"/>
                  <a:pt x="257175" y="228600"/>
                </a:cubicBezTo>
                <a:close/>
                <a:moveTo>
                  <a:pt x="428625" y="171450"/>
                </a:moveTo>
                <a:cubicBezTo>
                  <a:pt x="428625" y="147794"/>
                  <a:pt x="409419" y="128588"/>
                  <a:pt x="385763" y="128588"/>
                </a:cubicBezTo>
                <a:cubicBezTo>
                  <a:pt x="362106" y="128588"/>
                  <a:pt x="342900" y="147794"/>
                  <a:pt x="342900" y="171450"/>
                </a:cubicBezTo>
                <a:cubicBezTo>
                  <a:pt x="342900" y="195106"/>
                  <a:pt x="362106" y="214313"/>
                  <a:pt x="385763" y="214313"/>
                </a:cubicBezTo>
                <a:cubicBezTo>
                  <a:pt x="409419" y="214313"/>
                  <a:pt x="428625" y="195106"/>
                  <a:pt x="428625" y="171450"/>
                </a:cubicBezTo>
                <a:close/>
                <a:moveTo>
                  <a:pt x="150019" y="243155"/>
                </a:moveTo>
                <a:cubicBezTo>
                  <a:pt x="105995" y="246817"/>
                  <a:pt x="71438" y="283607"/>
                  <a:pt x="71438" y="328613"/>
                </a:cubicBezTo>
                <a:lnTo>
                  <a:pt x="71438" y="338167"/>
                </a:lnTo>
                <a:cubicBezTo>
                  <a:pt x="71438" y="348704"/>
                  <a:pt x="80010" y="357188"/>
                  <a:pt x="90458" y="357188"/>
                </a:cubicBezTo>
                <a:lnTo>
                  <a:pt x="132249" y="357188"/>
                </a:lnTo>
                <a:cubicBezTo>
                  <a:pt x="129838" y="350490"/>
                  <a:pt x="128588" y="343257"/>
                  <a:pt x="128588" y="335756"/>
                </a:cubicBezTo>
                <a:lnTo>
                  <a:pt x="128588" y="314325"/>
                </a:lnTo>
                <a:cubicBezTo>
                  <a:pt x="128588" y="287982"/>
                  <a:pt x="136446" y="263515"/>
                  <a:pt x="150019" y="243155"/>
                </a:cubicBezTo>
                <a:close/>
                <a:moveTo>
                  <a:pt x="382101" y="357188"/>
                </a:moveTo>
                <a:lnTo>
                  <a:pt x="423892" y="357188"/>
                </a:lnTo>
                <a:cubicBezTo>
                  <a:pt x="434429" y="357188"/>
                  <a:pt x="442913" y="348615"/>
                  <a:pt x="442913" y="338167"/>
                </a:cubicBezTo>
                <a:lnTo>
                  <a:pt x="442913" y="328613"/>
                </a:lnTo>
                <a:cubicBezTo>
                  <a:pt x="442913" y="283696"/>
                  <a:pt x="408355" y="246817"/>
                  <a:pt x="364331" y="243155"/>
                </a:cubicBezTo>
                <a:cubicBezTo>
                  <a:pt x="377904" y="263515"/>
                  <a:pt x="385763" y="287982"/>
                  <a:pt x="385763" y="314325"/>
                </a:cubicBezTo>
                <a:lnTo>
                  <a:pt x="385763" y="335756"/>
                </a:lnTo>
                <a:cubicBezTo>
                  <a:pt x="385763" y="343257"/>
                  <a:pt x="384512" y="350490"/>
                  <a:pt x="382101" y="357188"/>
                </a:cubicBezTo>
                <a:close/>
                <a:moveTo>
                  <a:pt x="171450" y="171450"/>
                </a:moveTo>
                <a:cubicBezTo>
                  <a:pt x="171450" y="147794"/>
                  <a:pt x="152244" y="128588"/>
                  <a:pt x="128588" y="128588"/>
                </a:cubicBezTo>
                <a:cubicBezTo>
                  <a:pt x="104931" y="128588"/>
                  <a:pt x="85725" y="147794"/>
                  <a:pt x="85725" y="171450"/>
                </a:cubicBezTo>
                <a:cubicBezTo>
                  <a:pt x="85725" y="195106"/>
                  <a:pt x="104931" y="214313"/>
                  <a:pt x="128588" y="214313"/>
                </a:cubicBezTo>
                <a:cubicBezTo>
                  <a:pt x="152244" y="214313"/>
                  <a:pt x="171450" y="195106"/>
                  <a:pt x="171450" y="171450"/>
                </a:cubicBezTo>
                <a:close/>
              </a:path>
            </a:pathLst>
          </a:custGeom>
          <a:solidFill>
            <a:srgbClr val="818CF8"/>
          </a:solidFill>
          <a:ln/>
        </p:spPr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7715E60E-DDC9-4BE5-B15C-F2C0ACDCF5CE}"/>
              </a:ext>
            </a:extLst>
          </p:cNvPr>
          <p:cNvSpPr/>
          <p:nvPr/>
        </p:nvSpPr>
        <p:spPr>
          <a:xfrm>
            <a:off x="9207500" y="2152869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818C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FB8645A7-BF79-490A-B952-D8F81022E5E0}"/>
              </a:ext>
            </a:extLst>
          </p:cNvPr>
          <p:cNvSpPr/>
          <p:nvPr/>
        </p:nvSpPr>
        <p:spPr>
          <a:xfrm>
            <a:off x="8572500" y="2787869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Сегментация — риск-группы</a:t>
            </a:r>
            <a:endParaRPr lang="en-US" sz="160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5B91A1E3-9471-43A1-B1FF-8E095E24D2E2}"/>
              </a:ext>
            </a:extLst>
          </p:cNvPr>
          <p:cNvSpPr/>
          <p:nvPr/>
        </p:nvSpPr>
        <p:spPr>
          <a:xfrm>
            <a:off x="8572500" y="3295869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Contract + tenure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Protection count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Выделение 2 целевых сегментов</a:t>
            </a:r>
            <a:endParaRPr lang="en-US" sz="18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E9BEC21D-5243-4842-B999-D0AA341E5F68}"/>
              </a:ext>
            </a:extLst>
          </p:cNvPr>
          <p:cNvSpPr/>
          <p:nvPr/>
        </p:nvSpPr>
        <p:spPr>
          <a:xfrm>
            <a:off x="762000" y="5454869"/>
            <a:ext cx="7048500" cy="3238500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D8EC1C55-BD1B-494F-8BDE-BC6BF2D93E3A}"/>
              </a:ext>
            </a:extLst>
          </p:cNvPr>
          <p:cNvSpPr/>
          <p:nvPr/>
        </p:nvSpPr>
        <p:spPr>
          <a:xfrm>
            <a:off x="1143000" y="577236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EC4AAE5C-7624-4E06-8AAE-97CEDA342E24}"/>
              </a:ext>
            </a:extLst>
          </p:cNvPr>
          <p:cNvSpPr/>
          <p:nvPr/>
        </p:nvSpPr>
        <p:spPr>
          <a:xfrm>
            <a:off x="1778000" y="5772369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43F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420BE69F-4FB9-4FF8-87E3-9B399B6AE7B3}"/>
              </a:ext>
            </a:extLst>
          </p:cNvPr>
          <p:cNvSpPr/>
          <p:nvPr/>
        </p:nvSpPr>
        <p:spPr>
          <a:xfrm>
            <a:off x="1143000" y="6407369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Моделирование — проверка гипотез</a:t>
            </a:r>
            <a:endParaRPr lang="en-US" sz="1600" dirty="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25FF910E-1841-4D76-8717-0200DC3CF773}"/>
              </a:ext>
            </a:extLst>
          </p:cNvPr>
          <p:cNvSpPr/>
          <p:nvPr/>
        </p:nvSpPr>
        <p:spPr>
          <a:xfrm>
            <a:off x="1143000" y="6915369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Logistic Regression (baseline)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Random Forest (ROC-AUC </a:t>
            </a:r>
            <a:r>
              <a:rPr lang="en-US" sz="18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0,839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Feature importance анализ</a:t>
            </a:r>
            <a:endParaRPr lang="en-US" sz="1800" dirty="0"/>
          </a:p>
        </p:txBody>
      </p:sp>
      <p:sp>
        <p:nvSpPr>
          <p:cNvPr id="32" name="Shape 17">
            <a:extLst>
              <a:ext uri="{FF2B5EF4-FFF2-40B4-BE49-F238E27FC236}">
                <a16:creationId xmlns:a16="http://schemas.microsoft.com/office/drawing/2014/main" id="{460A6696-AEFE-4E89-AF2D-0A1185F53620}"/>
              </a:ext>
            </a:extLst>
          </p:cNvPr>
          <p:cNvSpPr/>
          <p:nvPr/>
        </p:nvSpPr>
        <p:spPr>
          <a:xfrm>
            <a:off x="8191500" y="5454869"/>
            <a:ext cx="7048500" cy="3238500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FDC5E30B-6DBE-4A26-BD81-662CCD0D014F}"/>
              </a:ext>
            </a:extLst>
          </p:cNvPr>
          <p:cNvSpPr/>
          <p:nvPr/>
        </p:nvSpPr>
        <p:spPr>
          <a:xfrm>
            <a:off x="8572500" y="577236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2894" y="100013"/>
                </a:moveTo>
                <a:lnTo>
                  <a:pt x="164306" y="100013"/>
                </a:lnTo>
                <a:lnTo>
                  <a:pt x="130999" y="33486"/>
                </a:lnTo>
                <a:cubicBezTo>
                  <a:pt x="129391" y="30272"/>
                  <a:pt x="128588" y="26700"/>
                  <a:pt x="128588" y="23128"/>
                </a:cubicBezTo>
                <a:cubicBezTo>
                  <a:pt x="128588" y="10358"/>
                  <a:pt x="138946" y="0"/>
                  <a:pt x="151715" y="0"/>
                </a:cubicBezTo>
                <a:lnTo>
                  <a:pt x="305485" y="0"/>
                </a:lnTo>
                <a:cubicBezTo>
                  <a:pt x="318254" y="0"/>
                  <a:pt x="328613" y="10358"/>
                  <a:pt x="328613" y="23128"/>
                </a:cubicBezTo>
                <a:cubicBezTo>
                  <a:pt x="328613" y="26700"/>
                  <a:pt x="327809" y="30272"/>
                  <a:pt x="326201" y="33486"/>
                </a:cubicBezTo>
                <a:lnTo>
                  <a:pt x="292894" y="100013"/>
                </a:lnTo>
                <a:close/>
                <a:moveTo>
                  <a:pt x="151448" y="142875"/>
                </a:moveTo>
                <a:lnTo>
                  <a:pt x="305753" y="142875"/>
                </a:lnTo>
                <a:lnTo>
                  <a:pt x="349240" y="179130"/>
                </a:lnTo>
                <a:cubicBezTo>
                  <a:pt x="408623" y="228600"/>
                  <a:pt x="442913" y="301823"/>
                  <a:pt x="442913" y="379065"/>
                </a:cubicBezTo>
                <a:cubicBezTo>
                  <a:pt x="442913" y="422196"/>
                  <a:pt x="407908" y="457200"/>
                  <a:pt x="364778" y="457200"/>
                </a:cubicBezTo>
                <a:lnTo>
                  <a:pt x="92333" y="457200"/>
                </a:lnTo>
                <a:cubicBezTo>
                  <a:pt x="49292" y="457200"/>
                  <a:pt x="14288" y="422196"/>
                  <a:pt x="14288" y="379065"/>
                </a:cubicBezTo>
                <a:cubicBezTo>
                  <a:pt x="14288" y="301823"/>
                  <a:pt x="48578" y="228600"/>
                  <a:pt x="107960" y="179130"/>
                </a:cubicBezTo>
                <a:lnTo>
                  <a:pt x="151448" y="142875"/>
                </a:lnTo>
                <a:close/>
                <a:moveTo>
                  <a:pt x="232172" y="200025"/>
                </a:moveTo>
                <a:cubicBezTo>
                  <a:pt x="222349" y="200025"/>
                  <a:pt x="214313" y="208062"/>
                  <a:pt x="214313" y="217884"/>
                </a:cubicBezTo>
                <a:lnTo>
                  <a:pt x="214313" y="221456"/>
                </a:lnTo>
                <a:cubicBezTo>
                  <a:pt x="188595" y="221724"/>
                  <a:pt x="167878" y="242620"/>
                  <a:pt x="167878" y="268337"/>
                </a:cubicBezTo>
                <a:cubicBezTo>
                  <a:pt x="167878" y="291286"/>
                  <a:pt x="184398" y="310842"/>
                  <a:pt x="207079" y="314593"/>
                </a:cubicBezTo>
                <a:lnTo>
                  <a:pt x="244316" y="320844"/>
                </a:lnTo>
                <a:cubicBezTo>
                  <a:pt x="249674" y="321737"/>
                  <a:pt x="253603" y="326380"/>
                  <a:pt x="253603" y="331827"/>
                </a:cubicBezTo>
                <a:cubicBezTo>
                  <a:pt x="253603" y="337989"/>
                  <a:pt x="248602" y="342989"/>
                  <a:pt x="242441" y="342989"/>
                </a:cubicBezTo>
                <a:lnTo>
                  <a:pt x="192881" y="342900"/>
                </a:lnTo>
                <a:cubicBezTo>
                  <a:pt x="183059" y="342900"/>
                  <a:pt x="175022" y="350937"/>
                  <a:pt x="175022" y="360759"/>
                </a:cubicBezTo>
                <a:cubicBezTo>
                  <a:pt x="175022" y="370582"/>
                  <a:pt x="183059" y="378619"/>
                  <a:pt x="192881" y="378619"/>
                </a:cubicBezTo>
                <a:lnTo>
                  <a:pt x="214313" y="378619"/>
                </a:lnTo>
                <a:lnTo>
                  <a:pt x="214313" y="382191"/>
                </a:lnTo>
                <a:cubicBezTo>
                  <a:pt x="214313" y="392013"/>
                  <a:pt x="222349" y="400050"/>
                  <a:pt x="232172" y="400050"/>
                </a:cubicBezTo>
                <a:cubicBezTo>
                  <a:pt x="241995" y="400050"/>
                  <a:pt x="250031" y="392013"/>
                  <a:pt x="250031" y="382191"/>
                </a:cubicBezTo>
                <a:lnTo>
                  <a:pt x="250031" y="377994"/>
                </a:lnTo>
                <a:cubicBezTo>
                  <a:pt x="272355" y="374333"/>
                  <a:pt x="289322" y="355044"/>
                  <a:pt x="289322" y="331738"/>
                </a:cubicBezTo>
                <a:cubicBezTo>
                  <a:pt x="289322" y="308789"/>
                  <a:pt x="272802" y="289233"/>
                  <a:pt x="250121" y="285482"/>
                </a:cubicBezTo>
                <a:lnTo>
                  <a:pt x="212884" y="279231"/>
                </a:lnTo>
                <a:cubicBezTo>
                  <a:pt x="207526" y="278338"/>
                  <a:pt x="203597" y="273695"/>
                  <a:pt x="203597" y="268248"/>
                </a:cubicBezTo>
                <a:cubicBezTo>
                  <a:pt x="203597" y="262086"/>
                  <a:pt x="208598" y="257086"/>
                  <a:pt x="214759" y="257086"/>
                </a:cubicBezTo>
                <a:lnTo>
                  <a:pt x="257175" y="257086"/>
                </a:lnTo>
                <a:cubicBezTo>
                  <a:pt x="266998" y="257086"/>
                  <a:pt x="275034" y="249049"/>
                  <a:pt x="275034" y="239226"/>
                </a:cubicBezTo>
                <a:cubicBezTo>
                  <a:pt x="275034" y="229404"/>
                  <a:pt x="266998" y="221367"/>
                  <a:pt x="257175" y="221367"/>
                </a:cubicBezTo>
                <a:lnTo>
                  <a:pt x="250031" y="221367"/>
                </a:lnTo>
                <a:lnTo>
                  <a:pt x="250031" y="217795"/>
                </a:lnTo>
                <a:cubicBezTo>
                  <a:pt x="250031" y="207972"/>
                  <a:pt x="241995" y="199936"/>
                  <a:pt x="232172" y="199936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D652ECD5-66D9-4BEF-BD57-ABC4A6136C7C}"/>
              </a:ext>
            </a:extLst>
          </p:cNvPr>
          <p:cNvSpPr/>
          <p:nvPr/>
        </p:nvSpPr>
        <p:spPr>
          <a:xfrm>
            <a:off x="9207500" y="5772369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4B455338-D4AD-433C-99D5-30E42003EB24}"/>
              </a:ext>
            </a:extLst>
          </p:cNvPr>
          <p:cNvSpPr/>
          <p:nvPr/>
        </p:nvSpPr>
        <p:spPr>
          <a:xfrm>
            <a:off x="8572500" y="6407369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Экономика — расчёт ROI</a:t>
            </a:r>
            <a:endParaRPr lang="en-US" sz="1600" dirty="0"/>
          </a:p>
        </p:txBody>
      </p:sp>
      <p:sp>
        <p:nvSpPr>
          <p:cNvPr id="36" name="Text 21">
            <a:extLst>
              <a:ext uri="{FF2B5EF4-FFF2-40B4-BE49-F238E27FC236}">
                <a16:creationId xmlns:a16="http://schemas.microsoft.com/office/drawing/2014/main" id="{B346EAF1-CE5F-4FD3-8908-761BBCA0B0BA}"/>
              </a:ext>
            </a:extLst>
          </p:cNvPr>
          <p:cNvSpPr/>
          <p:nvPr/>
        </p:nvSpPr>
        <p:spPr>
          <a:xfrm>
            <a:off x="8572500" y="6915369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Два </a:t>
            </a:r>
            <a:r>
              <a:rPr lang="en-US" sz="1800" dirty="0" err="1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сегмента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 err="1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удержания</a:t>
            </a:r>
            <a:endParaRPr lang="ru-RU" sz="1800" dirty="0">
              <a:solidFill>
                <a:srgbClr val="F1F5F9"/>
              </a:solidFill>
              <a:latin typeface="QuattrocentoSans" pitchFamily="34" charset="0"/>
              <a:ea typeface="QuattrocentoSans" pitchFamily="34" charset="-122"/>
              <a:cs typeface="QuattrocentoSan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r>
              <a:rPr lang="ru-RU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ru-RU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Целевой показатель снижения оттока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en-US" sz="1800" dirty="0" err="1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Сохран</a:t>
            </a:r>
            <a:r>
              <a:rPr lang="ru-RU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е</a:t>
            </a:r>
            <a:r>
              <a:rPr lang="en-US" sz="1800" dirty="0" err="1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нная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выручка: </a:t>
            </a:r>
            <a:r>
              <a:rPr lang="en-US" sz="1800" b="1" dirty="0" err="1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до</a:t>
            </a:r>
            <a:r>
              <a:rPr lang="en-US" sz="1800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$</a:t>
            </a:r>
            <a:r>
              <a:rPr lang="ru-RU" sz="1800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800</a:t>
            </a:r>
            <a:r>
              <a:rPr lang="en-US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</a:t>
            </a:r>
            <a:endParaRPr lang="en-US" sz="1800" dirty="0"/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0967085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120"/>
            </a:gs>
            <a:gs pos="100000">
              <a:srgbClr val="111827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0000" y="6985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Топ-3 </a:t>
            </a:r>
            <a:r>
              <a:rPr lang="en-US" sz="3600" dirty="0" err="1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драйвера</a:t>
            </a:r>
            <a:r>
              <a:rPr lang="en-US" sz="3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600" dirty="0" err="1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оттока</a:t>
            </a:r>
            <a:r>
              <a:rPr lang="en-US" sz="3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r>
              <a:rPr lang="en-US" sz="3600" dirty="0" err="1">
                <a:solidFill>
                  <a:srgbClr val="F43F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контракт</a:t>
            </a:r>
            <a:r>
              <a:rPr lang="en-US" sz="3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r>
              <a:rPr lang="en-US" sz="3600" dirty="0">
                <a:solidFill>
                  <a:srgbClr val="F43F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tenure</a:t>
            </a:r>
            <a:r>
              <a:rPr lang="en-US" sz="3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и </a:t>
            </a:r>
            <a:r>
              <a:rPr lang="en-US" sz="3600" dirty="0" err="1">
                <a:solidFill>
                  <a:srgbClr val="F43F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защита</a:t>
            </a:r>
            <a:endParaRPr lang="en-US" sz="36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26C7D62C-F14F-41CD-9118-7FD7F94642A2}"/>
              </a:ext>
            </a:extLst>
          </p:cNvPr>
          <p:cNvSpPr/>
          <p:nvPr/>
        </p:nvSpPr>
        <p:spPr>
          <a:xfrm>
            <a:off x="762000" y="1953172"/>
            <a:ext cx="4699000" cy="6731000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3A291113-C335-4366-B185-40C8DFBE9BDB}"/>
              </a:ext>
            </a:extLst>
          </p:cNvPr>
          <p:cNvSpPr/>
          <p:nvPr/>
        </p:nvSpPr>
        <p:spPr>
          <a:xfrm>
            <a:off x="1206500" y="2334172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0" y="63500"/>
                </a:moveTo>
                <a:cubicBezTo>
                  <a:pt x="0" y="28476"/>
                  <a:pt x="28476" y="0"/>
                  <a:pt x="63500" y="0"/>
                </a:cubicBezTo>
                <a:lnTo>
                  <a:pt x="211832" y="0"/>
                </a:lnTo>
                <a:cubicBezTo>
                  <a:pt x="228699" y="0"/>
                  <a:pt x="244872" y="6648"/>
                  <a:pt x="256778" y="18554"/>
                </a:cubicBezTo>
                <a:lnTo>
                  <a:pt x="362446" y="124321"/>
                </a:lnTo>
                <a:cubicBezTo>
                  <a:pt x="374352" y="136227"/>
                  <a:pt x="381000" y="152400"/>
                  <a:pt x="381000" y="169267"/>
                </a:cubicBezTo>
                <a:lnTo>
                  <a:pt x="381000" y="444500"/>
                </a:lnTo>
                <a:cubicBezTo>
                  <a:pt x="381000" y="479524"/>
                  <a:pt x="352524" y="508000"/>
                  <a:pt x="3175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63500"/>
                </a:lnTo>
                <a:close/>
                <a:moveTo>
                  <a:pt x="206375" y="58043"/>
                </a:moveTo>
                <a:lnTo>
                  <a:pt x="206375" y="150813"/>
                </a:lnTo>
                <a:cubicBezTo>
                  <a:pt x="206375" y="164009"/>
                  <a:pt x="216991" y="174625"/>
                  <a:pt x="230188" y="174625"/>
                </a:cubicBezTo>
                <a:lnTo>
                  <a:pt x="322957" y="174625"/>
                </a:lnTo>
                <a:lnTo>
                  <a:pt x="206375" y="58043"/>
                </a:lnTo>
                <a:close/>
                <a:moveTo>
                  <a:pt x="87313" y="63500"/>
                </a:moveTo>
                <a:cubicBezTo>
                  <a:pt x="74116" y="63500"/>
                  <a:pt x="63500" y="74116"/>
                  <a:pt x="63500" y="87313"/>
                </a:cubicBezTo>
                <a:cubicBezTo>
                  <a:pt x="63500" y="100509"/>
                  <a:pt x="74116" y="111125"/>
                  <a:pt x="87313" y="111125"/>
                </a:cubicBezTo>
                <a:lnTo>
                  <a:pt x="134938" y="111125"/>
                </a:lnTo>
                <a:cubicBezTo>
                  <a:pt x="148134" y="111125"/>
                  <a:pt x="158750" y="100509"/>
                  <a:pt x="158750" y="87313"/>
                </a:cubicBezTo>
                <a:cubicBezTo>
                  <a:pt x="158750" y="74116"/>
                  <a:pt x="148134" y="63500"/>
                  <a:pt x="134938" y="63500"/>
                </a:cubicBezTo>
                <a:lnTo>
                  <a:pt x="87313" y="63500"/>
                </a:lnTo>
                <a:close/>
                <a:moveTo>
                  <a:pt x="87313" y="158750"/>
                </a:moveTo>
                <a:cubicBezTo>
                  <a:pt x="74116" y="158750"/>
                  <a:pt x="63500" y="169366"/>
                  <a:pt x="63500" y="182563"/>
                </a:cubicBezTo>
                <a:cubicBezTo>
                  <a:pt x="63500" y="195759"/>
                  <a:pt x="74116" y="206375"/>
                  <a:pt x="87313" y="206375"/>
                </a:cubicBezTo>
                <a:lnTo>
                  <a:pt x="134938" y="206375"/>
                </a:lnTo>
                <a:cubicBezTo>
                  <a:pt x="148134" y="206375"/>
                  <a:pt x="158750" y="195759"/>
                  <a:pt x="158750" y="182563"/>
                </a:cubicBezTo>
                <a:cubicBezTo>
                  <a:pt x="158750" y="169366"/>
                  <a:pt x="148134" y="158750"/>
                  <a:pt x="134938" y="158750"/>
                </a:cubicBezTo>
                <a:lnTo>
                  <a:pt x="87313" y="158750"/>
                </a:lnTo>
                <a:close/>
                <a:moveTo>
                  <a:pt x="157063" y="317500"/>
                </a:moveTo>
                <a:cubicBezTo>
                  <a:pt x="145852" y="317500"/>
                  <a:pt x="135334" y="322560"/>
                  <a:pt x="128389" y="331291"/>
                </a:cubicBezTo>
                <a:lnTo>
                  <a:pt x="68759" y="405805"/>
                </a:lnTo>
                <a:cubicBezTo>
                  <a:pt x="60523" y="416024"/>
                  <a:pt x="62210" y="431105"/>
                  <a:pt x="72430" y="439241"/>
                </a:cubicBezTo>
                <a:cubicBezTo>
                  <a:pt x="82649" y="447377"/>
                  <a:pt x="97730" y="445790"/>
                  <a:pt x="105866" y="435471"/>
                </a:cubicBezTo>
                <a:lnTo>
                  <a:pt x="152598" y="377130"/>
                </a:lnTo>
                <a:lnTo>
                  <a:pt x="167680" y="427434"/>
                </a:lnTo>
                <a:cubicBezTo>
                  <a:pt x="170656" y="437555"/>
                  <a:pt x="179983" y="444401"/>
                  <a:pt x="190500" y="444401"/>
                </a:cubicBezTo>
                <a:lnTo>
                  <a:pt x="293688" y="444401"/>
                </a:lnTo>
                <a:cubicBezTo>
                  <a:pt x="306884" y="444401"/>
                  <a:pt x="317500" y="433784"/>
                  <a:pt x="317500" y="420588"/>
                </a:cubicBezTo>
                <a:cubicBezTo>
                  <a:pt x="317500" y="407392"/>
                  <a:pt x="306884" y="396776"/>
                  <a:pt x="293688" y="396776"/>
                </a:cubicBezTo>
                <a:lnTo>
                  <a:pt x="208260" y="396776"/>
                </a:lnTo>
                <a:lnTo>
                  <a:pt x="192286" y="343595"/>
                </a:lnTo>
                <a:cubicBezTo>
                  <a:pt x="187623" y="328017"/>
                  <a:pt x="173335" y="317401"/>
                  <a:pt x="157063" y="317401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F216F3AD-834C-474C-A6B1-BFDF1EAF1D0E}"/>
              </a:ext>
            </a:extLst>
          </p:cNvPr>
          <p:cNvSpPr/>
          <p:nvPr/>
        </p:nvSpPr>
        <p:spPr>
          <a:xfrm>
            <a:off x="1143000" y="3032672"/>
            <a:ext cx="3937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ТИП КОНТРАКТА</a:t>
            </a:r>
            <a:endParaRPr lang="en-US" sz="14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4BA2E230-B24A-4942-9E4D-F2CF2B5A87E7}"/>
              </a:ext>
            </a:extLst>
          </p:cNvPr>
          <p:cNvSpPr/>
          <p:nvPr/>
        </p:nvSpPr>
        <p:spPr>
          <a:xfrm>
            <a:off x="1143000" y="3604172"/>
            <a:ext cx="393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43F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42,7%</a:t>
            </a:r>
            <a:endParaRPr lang="en-US" sz="40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A4EA3C17-1DB1-4BEE-BE15-D41734BBA59D}"/>
              </a:ext>
            </a:extLst>
          </p:cNvPr>
          <p:cNvSpPr/>
          <p:nvPr/>
        </p:nvSpPr>
        <p:spPr>
          <a:xfrm>
            <a:off x="1143000" y="4366172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Month-to-month</a:t>
            </a:r>
            <a:endParaRPr lang="en-US" sz="18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36878C19-8749-4F3A-9E96-76E3A0EB8DFB}"/>
              </a:ext>
            </a:extLst>
          </p:cNvPr>
          <p:cNvSpPr/>
          <p:nvPr/>
        </p:nvSpPr>
        <p:spPr>
          <a:xfrm>
            <a:off x="1143000" y="5255172"/>
            <a:ext cx="393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2,8%</a:t>
            </a:r>
            <a:endParaRPr lang="en-US" sz="40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063530D-A945-4049-9777-8BFE22AFBFAC}"/>
              </a:ext>
            </a:extLst>
          </p:cNvPr>
          <p:cNvSpPr/>
          <p:nvPr/>
        </p:nvSpPr>
        <p:spPr>
          <a:xfrm>
            <a:off x="1143000" y="6017172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Two year</a:t>
            </a:r>
            <a:endParaRPr lang="en-US" sz="18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66059DBE-AC5E-4CE0-B439-21E5F1F8107A}"/>
              </a:ext>
            </a:extLst>
          </p:cNvPr>
          <p:cNvSpPr/>
          <p:nvPr/>
        </p:nvSpPr>
        <p:spPr>
          <a:xfrm>
            <a:off x="1143000" y="6652172"/>
            <a:ext cx="393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→</a:t>
            </a: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Долгосрочные контракты снижают отток в </a:t>
            </a:r>
            <a:r>
              <a:rPr lang="en-US" sz="16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 раз</a:t>
            </a:r>
            <a:endParaRPr lang="en-US" sz="180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16E62D5A-A630-4DFF-83F7-26A18CFB0954}"/>
              </a:ext>
            </a:extLst>
          </p:cNvPr>
          <p:cNvSpPr/>
          <p:nvPr/>
        </p:nvSpPr>
        <p:spPr>
          <a:xfrm>
            <a:off x="5778500" y="1953172"/>
            <a:ext cx="4699000" cy="6731000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52A2B630-CD03-4ACE-9C2F-192082EFE975}"/>
              </a:ext>
            </a:extLst>
          </p:cNvPr>
          <p:cNvSpPr/>
          <p:nvPr/>
        </p:nvSpPr>
        <p:spPr>
          <a:xfrm>
            <a:off x="6159500" y="233417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ubicBezTo>
                  <a:pt x="0" y="113814"/>
                  <a:pt x="113814" y="0"/>
                  <a:pt x="254000" y="0"/>
                </a:cubicBezTo>
                <a:close/>
                <a:moveTo>
                  <a:pt x="230188" y="119063"/>
                </a:moveTo>
                <a:lnTo>
                  <a:pt x="230188" y="254000"/>
                </a:lnTo>
                <a:cubicBezTo>
                  <a:pt x="230188" y="261937"/>
                  <a:pt x="234156" y="269379"/>
                  <a:pt x="240804" y="273844"/>
                </a:cubicBezTo>
                <a:lnTo>
                  <a:pt x="336054" y="337344"/>
                </a:lnTo>
                <a:cubicBezTo>
                  <a:pt x="346968" y="344686"/>
                  <a:pt x="361752" y="341709"/>
                  <a:pt x="369094" y="330696"/>
                </a:cubicBezTo>
                <a:cubicBezTo>
                  <a:pt x="376436" y="319683"/>
                  <a:pt x="373459" y="304998"/>
                  <a:pt x="362446" y="297656"/>
                </a:cubicBezTo>
                <a:lnTo>
                  <a:pt x="277813" y="241300"/>
                </a:lnTo>
                <a:lnTo>
                  <a:pt x="277813" y="119063"/>
                </a:lnTo>
                <a:cubicBezTo>
                  <a:pt x="277813" y="105866"/>
                  <a:pt x="267196" y="95250"/>
                  <a:pt x="254000" y="95250"/>
                </a:cubicBezTo>
                <a:cubicBezTo>
                  <a:pt x="240804" y="95250"/>
                  <a:pt x="230188" y="105866"/>
                  <a:pt x="230188" y="119063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334CD580-2C82-4957-B50D-EB8736AA1519}"/>
              </a:ext>
            </a:extLst>
          </p:cNvPr>
          <p:cNvSpPr/>
          <p:nvPr/>
        </p:nvSpPr>
        <p:spPr>
          <a:xfrm>
            <a:off x="6159500" y="3032672"/>
            <a:ext cx="3937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С</a:t>
            </a:r>
            <a:r>
              <a:rPr lang="ru-RU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РОК</a:t>
            </a: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(TENURE)</a:t>
            </a:r>
            <a:endParaRPr lang="en-US" sz="14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0E0D6C82-C247-4889-A7EB-46B96A3C8E87}"/>
              </a:ext>
            </a:extLst>
          </p:cNvPr>
          <p:cNvSpPr/>
          <p:nvPr/>
        </p:nvSpPr>
        <p:spPr>
          <a:xfrm>
            <a:off x="6159500" y="3604172"/>
            <a:ext cx="393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43F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52,9%</a:t>
            </a:r>
            <a:endParaRPr lang="en-US" sz="40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9C2CAA4E-DDB4-4A0B-A2AF-889D3A8422DB}"/>
              </a:ext>
            </a:extLst>
          </p:cNvPr>
          <p:cNvSpPr/>
          <p:nvPr/>
        </p:nvSpPr>
        <p:spPr>
          <a:xfrm>
            <a:off x="6159500" y="4366172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1–14 месяцев</a:t>
            </a:r>
            <a:endParaRPr lang="en-US" sz="18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E43AA730-4F5B-44A0-BAB6-E0742EFD9CBE}"/>
              </a:ext>
            </a:extLst>
          </p:cNvPr>
          <p:cNvSpPr/>
          <p:nvPr/>
        </p:nvSpPr>
        <p:spPr>
          <a:xfrm>
            <a:off x="6159500" y="5255172"/>
            <a:ext cx="393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6,6%</a:t>
            </a:r>
            <a:endParaRPr lang="en-US" sz="40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49930F64-1D62-4BB8-8DDF-3E083964D8F2}"/>
              </a:ext>
            </a:extLst>
          </p:cNvPr>
          <p:cNvSpPr/>
          <p:nvPr/>
        </p:nvSpPr>
        <p:spPr>
          <a:xfrm>
            <a:off x="6159500" y="6017172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60–72 месяца</a:t>
            </a:r>
            <a:endParaRPr lang="en-US" sz="18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2705762A-70D8-4EC9-9B13-EF4841D0C27C}"/>
              </a:ext>
            </a:extLst>
          </p:cNvPr>
          <p:cNvSpPr/>
          <p:nvPr/>
        </p:nvSpPr>
        <p:spPr>
          <a:xfrm>
            <a:off x="6159500" y="6652172"/>
            <a:ext cx="393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→</a:t>
            </a: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Первый год — критическое окно: отток в </a:t>
            </a:r>
            <a:r>
              <a:rPr lang="en-US" sz="16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 раз</a:t>
            </a: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выше</a:t>
            </a:r>
            <a:endParaRPr lang="en-US" sz="1800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B1DFCCB5-EEBE-40B3-B9DE-D06AAEAE522C}"/>
              </a:ext>
            </a:extLst>
          </p:cNvPr>
          <p:cNvSpPr/>
          <p:nvPr/>
        </p:nvSpPr>
        <p:spPr>
          <a:xfrm>
            <a:off x="10795000" y="1953172"/>
            <a:ext cx="4699000" cy="6731000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FB104355-6377-41C1-B79E-931BF8A99468}"/>
              </a:ext>
            </a:extLst>
          </p:cNvPr>
          <p:cNvSpPr/>
          <p:nvPr/>
        </p:nvSpPr>
        <p:spPr>
          <a:xfrm>
            <a:off x="11176000" y="233417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B0277CE3-CCAF-4C1B-A6D5-4B15422C6468}"/>
              </a:ext>
            </a:extLst>
          </p:cNvPr>
          <p:cNvSpPr/>
          <p:nvPr/>
        </p:nvSpPr>
        <p:spPr>
          <a:xfrm>
            <a:off x="11176000" y="3032672"/>
            <a:ext cx="3937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ЗАЩИТНЫЕ УСЛУГИ</a:t>
            </a:r>
            <a:endParaRPr lang="en-US" sz="140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F4009453-9515-4ACA-9C26-E489C7AEFB29}"/>
              </a:ext>
            </a:extLst>
          </p:cNvPr>
          <p:cNvSpPr/>
          <p:nvPr/>
        </p:nvSpPr>
        <p:spPr>
          <a:xfrm>
            <a:off x="11176000" y="3604172"/>
            <a:ext cx="393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43F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56,7%</a:t>
            </a:r>
            <a:endParaRPr lang="en-US" sz="4000" dirty="0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C73CD170-82CD-456A-A614-2187A4CD4CF2}"/>
              </a:ext>
            </a:extLst>
          </p:cNvPr>
          <p:cNvSpPr/>
          <p:nvPr/>
        </p:nvSpPr>
        <p:spPr>
          <a:xfrm>
            <a:off x="11176000" y="4366172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 защитных услуг</a:t>
            </a:r>
            <a:endParaRPr lang="en-US" sz="180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085FCAA6-1787-407B-8DD4-BD273712E284}"/>
              </a:ext>
            </a:extLst>
          </p:cNvPr>
          <p:cNvSpPr/>
          <p:nvPr/>
        </p:nvSpPr>
        <p:spPr>
          <a:xfrm>
            <a:off x="11176000" y="5255172"/>
            <a:ext cx="393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5,3%</a:t>
            </a:r>
            <a:endParaRPr lang="en-US" sz="40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EF1F6036-959C-4A6C-A634-3E1DD0308C4D}"/>
              </a:ext>
            </a:extLst>
          </p:cNvPr>
          <p:cNvSpPr/>
          <p:nvPr/>
        </p:nvSpPr>
        <p:spPr>
          <a:xfrm>
            <a:off x="11176000" y="6017172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 защитных услуги</a:t>
            </a:r>
            <a:endParaRPr lang="en-US" sz="1800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B9CB45A2-C6FB-4F18-9510-1A818F41CA1F}"/>
              </a:ext>
            </a:extLst>
          </p:cNvPr>
          <p:cNvSpPr/>
          <p:nvPr/>
        </p:nvSpPr>
        <p:spPr>
          <a:xfrm>
            <a:off x="11176000" y="6652172"/>
            <a:ext cx="393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→</a:t>
            </a: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Каждая защита снижает отток: разница в </a:t>
            </a:r>
            <a:r>
              <a:rPr lang="en-US" sz="16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раз</a:t>
            </a:r>
            <a:endParaRPr lang="en-US" sz="1800" dirty="0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457221EA-EA4F-4ABA-8C21-542F91CE5F95}"/>
              </a:ext>
            </a:extLst>
          </p:cNvPr>
          <p:cNvSpPr/>
          <p:nvPr/>
        </p:nvSpPr>
        <p:spPr>
          <a:xfrm>
            <a:off x="1143000" y="5032703"/>
            <a:ext cx="3937000" cy="12700"/>
          </a:xfrm>
          <a:prstGeom prst="rect">
            <a:avLst/>
          </a:prstGeom>
          <a:solidFill>
            <a:srgbClr val="FFFFFF">
              <a:alpha val="9412"/>
            </a:srgbClr>
          </a:solidFill>
          <a:ln/>
        </p:spPr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0F1A9B3A-A759-404C-8DE1-7C81D7B4C739}"/>
              </a:ext>
            </a:extLst>
          </p:cNvPr>
          <p:cNvSpPr/>
          <p:nvPr/>
        </p:nvSpPr>
        <p:spPr>
          <a:xfrm>
            <a:off x="6159500" y="5032703"/>
            <a:ext cx="3937000" cy="12700"/>
          </a:xfrm>
          <a:prstGeom prst="rect">
            <a:avLst/>
          </a:prstGeom>
          <a:solidFill>
            <a:srgbClr val="FFFFFF">
              <a:alpha val="9412"/>
            </a:srgbClr>
          </a:solidFill>
          <a:ln/>
        </p:spPr>
      </p:sp>
      <p:sp>
        <p:nvSpPr>
          <p:cNvPr id="35" name="Shape 25">
            <a:extLst>
              <a:ext uri="{FF2B5EF4-FFF2-40B4-BE49-F238E27FC236}">
                <a16:creationId xmlns:a16="http://schemas.microsoft.com/office/drawing/2014/main" id="{BED3CD9A-01F4-44DF-A758-F593FAD9609C}"/>
              </a:ext>
            </a:extLst>
          </p:cNvPr>
          <p:cNvSpPr/>
          <p:nvPr/>
        </p:nvSpPr>
        <p:spPr>
          <a:xfrm>
            <a:off x="11176000" y="5032703"/>
            <a:ext cx="3937000" cy="12700"/>
          </a:xfrm>
          <a:prstGeom prst="rect">
            <a:avLst/>
          </a:prstGeom>
          <a:solidFill>
            <a:srgbClr val="FFFFFF">
              <a:alpha val="9412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155620663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120"/>
            </a:gs>
            <a:gs pos="100000">
              <a:srgbClr val="111827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4478000" cy="1143000"/>
          </a:xfrm>
          <a:prstGeom prst="roundRect">
            <a:avLst>
              <a:gd name="adj" fmla="val 6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0000" y="6985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 err="1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Защита</a:t>
            </a:r>
            <a:r>
              <a:rPr lang="en-US" sz="3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</a:t>
            </a:r>
            <a:r>
              <a:rPr lang="en-US" sz="3600" dirty="0" err="1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главный</a:t>
            </a:r>
            <a:r>
              <a:rPr lang="en-US" sz="3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600" dirty="0" err="1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рычаг</a:t>
            </a:r>
            <a:r>
              <a:rPr lang="en-US" sz="3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r>
              <a:rPr lang="en-US" sz="3600" dirty="0" err="1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отток</a:t>
            </a:r>
            <a:r>
              <a:rPr lang="en-US" sz="3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600" dirty="0" err="1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падает</a:t>
            </a:r>
            <a:r>
              <a:rPr lang="en-US" sz="3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с </a:t>
            </a:r>
            <a:r>
              <a:rPr lang="en-US" sz="3600" dirty="0">
                <a:solidFill>
                  <a:srgbClr val="F43F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57%</a:t>
            </a:r>
            <a:r>
              <a:rPr lang="en-US" sz="3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600" dirty="0" err="1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</a:t>
            </a:r>
            <a:r>
              <a:rPr lang="en-US" sz="3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6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5%</a:t>
            </a:r>
            <a:endParaRPr lang="en-US" sz="3600" dirty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67681ABF-E88A-406D-B45C-A6048C842CBC}"/>
              </a:ext>
            </a:extLst>
          </p:cNvPr>
          <p:cNvSpPr/>
          <p:nvPr/>
        </p:nvSpPr>
        <p:spPr>
          <a:xfrm>
            <a:off x="762000" y="1933027"/>
            <a:ext cx="5080000" cy="3556000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B2C3D11A-8F3B-4867-9421-4B18157D660A}"/>
              </a:ext>
            </a:extLst>
          </p:cNvPr>
          <p:cNvSpPr/>
          <p:nvPr/>
        </p:nvSpPr>
        <p:spPr>
          <a:xfrm>
            <a:off x="1079500" y="2187027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Ключевые наблюдения</a:t>
            </a:r>
            <a:endParaRPr lang="en-US" sz="16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3E2A5CEF-F717-459F-A75F-DFC605E8335F}"/>
              </a:ext>
            </a:extLst>
          </p:cNvPr>
          <p:cNvSpPr/>
          <p:nvPr/>
        </p:nvSpPr>
        <p:spPr>
          <a:xfrm>
            <a:off x="1079500" y="2758527"/>
            <a:ext cx="4445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Клиенты с интернетом, но </a:t>
            </a:r>
            <a:r>
              <a:rPr lang="en-US" sz="18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без защиты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отток </a:t>
            </a:r>
            <a:r>
              <a:rPr lang="en-US" sz="1800" dirty="0">
                <a:solidFill>
                  <a:srgbClr val="F43F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50–65%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При </a:t>
            </a:r>
            <a:r>
              <a:rPr lang="en-US" sz="18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2+ защитных услугах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отток падает до </a:t>
            </a:r>
            <a:r>
              <a:rPr lang="en-US" sz="180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12–15%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en-US" sz="1800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Вывод: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защита важнее развлечений</a:t>
            </a:r>
            <a:endParaRPr lang="en-US" sz="180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CABF83A3-2F6F-4BAF-96B5-24F9A563ADEF}"/>
              </a:ext>
            </a:extLst>
          </p:cNvPr>
          <p:cNvSpPr/>
          <p:nvPr/>
        </p:nvSpPr>
        <p:spPr>
          <a:xfrm>
            <a:off x="6223000" y="1933027"/>
            <a:ext cx="9017000" cy="3556000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graphicFrame>
        <p:nvGraphicFramePr>
          <p:cNvPr id="15" name="Chart 0">
            <a:extLst>
              <a:ext uri="{FF2B5EF4-FFF2-40B4-BE49-F238E27FC236}">
                <a16:creationId xmlns:a16="http://schemas.microsoft.com/office/drawing/2014/main" id="{A2E05C62-4009-42CE-835E-FD9AA3CC2A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8040601"/>
              </p:ext>
            </p:extLst>
          </p:nvPr>
        </p:nvGraphicFramePr>
        <p:xfrm>
          <a:off x="6604000" y="2250527"/>
          <a:ext cx="8509000" cy="292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6">
            <a:extLst>
              <a:ext uri="{FF2B5EF4-FFF2-40B4-BE49-F238E27FC236}">
                <a16:creationId xmlns:a16="http://schemas.microsoft.com/office/drawing/2014/main" id="{AC7F2BBD-2230-4178-BB44-752143522CD7}"/>
              </a:ext>
            </a:extLst>
          </p:cNvPr>
          <p:cNvSpPr/>
          <p:nvPr/>
        </p:nvSpPr>
        <p:spPr>
          <a:xfrm>
            <a:off x="762000" y="5870027"/>
            <a:ext cx="7048500" cy="2921000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330099CB-26B3-4C42-A37D-13D3252DC778}"/>
              </a:ext>
            </a:extLst>
          </p:cNvPr>
          <p:cNvSpPr/>
          <p:nvPr/>
        </p:nvSpPr>
        <p:spPr>
          <a:xfrm>
            <a:off x="1117600" y="6251027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76200"/>
                </a:moveTo>
                <a:cubicBezTo>
                  <a:pt x="156448" y="76200"/>
                  <a:pt x="91123" y="104775"/>
                  <a:pt x="43101" y="151289"/>
                </a:cubicBezTo>
                <a:cubicBezTo>
                  <a:pt x="33020" y="161052"/>
                  <a:pt x="16907" y="160814"/>
                  <a:pt x="7223" y="150733"/>
                </a:cubicBezTo>
                <a:cubicBezTo>
                  <a:pt x="-2461" y="140653"/>
                  <a:pt x="-2302" y="124539"/>
                  <a:pt x="7779" y="114856"/>
                </a:cubicBezTo>
                <a:cubicBezTo>
                  <a:pt x="64849" y="59452"/>
                  <a:pt x="142796" y="25400"/>
                  <a:pt x="228600" y="25400"/>
                </a:cubicBezTo>
                <a:cubicBezTo>
                  <a:pt x="314404" y="25400"/>
                  <a:pt x="392351" y="59452"/>
                  <a:pt x="449501" y="114856"/>
                </a:cubicBezTo>
                <a:cubicBezTo>
                  <a:pt x="459581" y="124619"/>
                  <a:pt x="459819" y="140732"/>
                  <a:pt x="450056" y="150733"/>
                </a:cubicBezTo>
                <a:cubicBezTo>
                  <a:pt x="440293" y="160734"/>
                  <a:pt x="424180" y="161052"/>
                  <a:pt x="414179" y="151289"/>
                </a:cubicBezTo>
                <a:cubicBezTo>
                  <a:pt x="366077" y="104775"/>
                  <a:pt x="300752" y="76200"/>
                  <a:pt x="228600" y="76200"/>
                </a:cubicBezTo>
                <a:close/>
                <a:moveTo>
                  <a:pt x="190500" y="342900"/>
                </a:moveTo>
                <a:cubicBezTo>
                  <a:pt x="190500" y="321872"/>
                  <a:pt x="207572" y="304800"/>
                  <a:pt x="228600" y="304800"/>
                </a:cubicBezTo>
                <a:cubicBezTo>
                  <a:pt x="249628" y="304800"/>
                  <a:pt x="266700" y="321872"/>
                  <a:pt x="266700" y="342900"/>
                </a:cubicBezTo>
                <a:cubicBezTo>
                  <a:pt x="266700" y="363928"/>
                  <a:pt x="249628" y="381000"/>
                  <a:pt x="228600" y="381000"/>
                </a:cubicBezTo>
                <a:cubicBezTo>
                  <a:pt x="207572" y="381000"/>
                  <a:pt x="190500" y="363928"/>
                  <a:pt x="190500" y="342900"/>
                </a:cubicBezTo>
                <a:close/>
                <a:moveTo>
                  <a:pt x="133350" y="258921"/>
                </a:moveTo>
                <a:cubicBezTo>
                  <a:pt x="124063" y="269478"/>
                  <a:pt x="108029" y="270431"/>
                  <a:pt x="97473" y="261144"/>
                </a:cubicBezTo>
                <a:cubicBezTo>
                  <a:pt x="86916" y="251857"/>
                  <a:pt x="85963" y="235823"/>
                  <a:pt x="95250" y="225266"/>
                </a:cubicBezTo>
                <a:cubicBezTo>
                  <a:pt x="127794" y="188436"/>
                  <a:pt x="175498" y="165100"/>
                  <a:pt x="228600" y="165100"/>
                </a:cubicBezTo>
                <a:cubicBezTo>
                  <a:pt x="281702" y="165100"/>
                  <a:pt x="329406" y="188436"/>
                  <a:pt x="361950" y="225266"/>
                </a:cubicBezTo>
                <a:cubicBezTo>
                  <a:pt x="371237" y="235823"/>
                  <a:pt x="370205" y="251857"/>
                  <a:pt x="359728" y="261144"/>
                </a:cubicBezTo>
                <a:cubicBezTo>
                  <a:pt x="349250" y="270431"/>
                  <a:pt x="333137" y="269399"/>
                  <a:pt x="323850" y="258921"/>
                </a:cubicBezTo>
                <a:cubicBezTo>
                  <a:pt x="300514" y="232489"/>
                  <a:pt x="266541" y="215900"/>
                  <a:pt x="228600" y="215900"/>
                </a:cubicBezTo>
                <a:cubicBezTo>
                  <a:pt x="190659" y="215900"/>
                  <a:pt x="156686" y="232489"/>
                  <a:pt x="133350" y="258921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0D345938-7341-42CF-B4C8-34D80703F481}"/>
              </a:ext>
            </a:extLst>
          </p:cNvPr>
          <p:cNvSpPr/>
          <p:nvPr/>
        </p:nvSpPr>
        <p:spPr>
          <a:xfrm>
            <a:off x="1778000" y="6251027"/>
            <a:ext cx="571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Интернет без защиты</a:t>
            </a:r>
            <a:endParaRPr lang="en-US" sz="16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413BDEA7-AE1C-4558-AF91-7359C6F23F18}"/>
              </a:ext>
            </a:extLst>
          </p:cNvPr>
          <p:cNvSpPr/>
          <p:nvPr/>
        </p:nvSpPr>
        <p:spPr>
          <a:xfrm>
            <a:off x="1143000" y="6886027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43F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50–65%</a:t>
            </a:r>
            <a:endParaRPr lang="en-US" sz="40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A6DF3F59-BAE0-4A3C-8389-81E33CC8CF9E}"/>
              </a:ext>
            </a:extLst>
          </p:cNvPr>
          <p:cNvSpPr/>
          <p:nvPr/>
        </p:nvSpPr>
        <p:spPr>
          <a:xfrm>
            <a:off x="1143000" y="7775027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Отток клиентов с интернет-сервисом, но без подключённых защитных услуг</a:t>
            </a:r>
            <a:endParaRPr lang="en-US" sz="180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2482593F-7385-4119-8749-F972B5FCF653}"/>
              </a:ext>
            </a:extLst>
          </p:cNvPr>
          <p:cNvSpPr/>
          <p:nvPr/>
        </p:nvSpPr>
        <p:spPr>
          <a:xfrm>
            <a:off x="8191500" y="5870027"/>
            <a:ext cx="7048500" cy="2921000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30B52256-4350-4EF6-ABC2-11C94F73C797}"/>
              </a:ext>
            </a:extLst>
          </p:cNvPr>
          <p:cNvSpPr/>
          <p:nvPr/>
        </p:nvSpPr>
        <p:spPr>
          <a:xfrm>
            <a:off x="8572500" y="625102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8D3FD2E6-8DFE-42F3-8C38-942C8F444DF5}"/>
              </a:ext>
            </a:extLst>
          </p:cNvPr>
          <p:cNvSpPr/>
          <p:nvPr/>
        </p:nvSpPr>
        <p:spPr>
          <a:xfrm>
            <a:off x="9207500" y="6251027"/>
            <a:ext cx="571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2+ защитных услуги</a:t>
            </a:r>
            <a:endParaRPr lang="en-US" sz="1600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F74E8753-6498-4AF5-B206-6DF980BBD235}"/>
              </a:ext>
            </a:extLst>
          </p:cNvPr>
          <p:cNvSpPr/>
          <p:nvPr/>
        </p:nvSpPr>
        <p:spPr>
          <a:xfrm>
            <a:off x="8572500" y="6886027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12–15%</a:t>
            </a:r>
            <a:endParaRPr lang="en-US" sz="40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EB2241B2-5626-49B9-AFB6-B5B1D093B05F}"/>
              </a:ext>
            </a:extLst>
          </p:cNvPr>
          <p:cNvSpPr/>
          <p:nvPr/>
        </p:nvSpPr>
        <p:spPr>
          <a:xfrm>
            <a:off x="8572500" y="7775027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Отток при подключении двух и более защитных сервисов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6832590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120"/>
            </a:gs>
            <a:gs pos="100000">
              <a:srgbClr val="111827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0000" y="698500"/>
            <a:ext cx="1402255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3600" b="1" dirty="0">
                <a:solidFill>
                  <a:srgbClr val="F1F5F9"/>
                </a:solidFill>
              </a:rPr>
              <a:t>Модель: </a:t>
            </a:r>
            <a:r>
              <a:rPr lang="en-US" sz="3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</a:t>
            </a:r>
            <a:r>
              <a:rPr lang="en-US" sz="3600" dirty="0" err="1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подтверждает</a:t>
            </a:r>
            <a:r>
              <a:rPr lang="en-US" sz="3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600" dirty="0" err="1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гипотезы</a:t>
            </a:r>
            <a:r>
              <a:rPr lang="en-US" sz="3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</a:t>
            </a:r>
            <a:r>
              <a:rPr lang="en-US" sz="36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ROC-AUC 0,839</a:t>
            </a:r>
            <a:endParaRPr lang="en-US" sz="36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0B83E692-BB30-4EA7-938C-5AD6A68A9495}"/>
              </a:ext>
            </a:extLst>
          </p:cNvPr>
          <p:cNvSpPr/>
          <p:nvPr/>
        </p:nvSpPr>
        <p:spPr>
          <a:xfrm>
            <a:off x="762000" y="2095500"/>
            <a:ext cx="4318000" cy="3556000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E912D07-2ACC-4C2A-A56D-0434D05B2EB4}"/>
              </a:ext>
            </a:extLst>
          </p:cNvPr>
          <p:cNvSpPr/>
          <p:nvPr/>
        </p:nvSpPr>
        <p:spPr>
          <a:xfrm>
            <a:off x="1079500" y="2286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Метрики модели</a:t>
            </a:r>
            <a:endParaRPr lang="en-US" sz="16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3ECBFE7-13A4-4E76-82D5-026DEF025363}"/>
              </a:ext>
            </a:extLst>
          </p:cNvPr>
          <p:cNvSpPr/>
          <p:nvPr/>
        </p:nvSpPr>
        <p:spPr>
          <a:xfrm>
            <a:off x="1079500" y="2857500"/>
            <a:ext cx="177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ROC-AUC</a:t>
            </a:r>
            <a:endParaRPr lang="en-US" sz="14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CBF05C79-A8AD-4ACC-A764-454712828A43}"/>
              </a:ext>
            </a:extLst>
          </p:cNvPr>
          <p:cNvSpPr/>
          <p:nvPr/>
        </p:nvSpPr>
        <p:spPr>
          <a:xfrm>
            <a:off x="2857500" y="2794000"/>
            <a:ext cx="190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0,839</a:t>
            </a:r>
            <a:endParaRPr lang="en-US" sz="16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8D9227BE-E34B-4F19-BCC8-9D2FA5BDB9D5}"/>
              </a:ext>
            </a:extLst>
          </p:cNvPr>
          <p:cNvSpPr/>
          <p:nvPr/>
        </p:nvSpPr>
        <p:spPr>
          <a:xfrm>
            <a:off x="1079500" y="3365500"/>
            <a:ext cx="177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7EE96B49-8BEB-42A8-91D3-7E7F5D1D9731}"/>
              </a:ext>
            </a:extLst>
          </p:cNvPr>
          <p:cNvSpPr/>
          <p:nvPr/>
        </p:nvSpPr>
        <p:spPr>
          <a:xfrm>
            <a:off x="2857500" y="3302000"/>
            <a:ext cx="190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0,</a:t>
            </a:r>
            <a:r>
              <a:rPr lang="ru-RU" sz="24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55</a:t>
            </a:r>
            <a:endParaRPr lang="en-US" sz="16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887594DC-4662-4B10-9EE5-F83833278F94}"/>
              </a:ext>
            </a:extLst>
          </p:cNvPr>
          <p:cNvSpPr/>
          <p:nvPr/>
        </p:nvSpPr>
        <p:spPr>
          <a:xfrm>
            <a:off x="1079500" y="3873500"/>
            <a:ext cx="177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Recall</a:t>
            </a:r>
            <a:endParaRPr lang="en-US" sz="14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5E823BC7-EF2C-4F3A-9AD5-F6A373F9DD74}"/>
              </a:ext>
            </a:extLst>
          </p:cNvPr>
          <p:cNvSpPr/>
          <p:nvPr/>
        </p:nvSpPr>
        <p:spPr>
          <a:xfrm>
            <a:off x="2857500" y="3810000"/>
            <a:ext cx="190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0,7</a:t>
            </a:r>
            <a:r>
              <a:rPr lang="ru-RU" sz="24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79980874-C367-4CD4-B7AC-34C5535A22E8}"/>
              </a:ext>
            </a:extLst>
          </p:cNvPr>
          <p:cNvSpPr/>
          <p:nvPr/>
        </p:nvSpPr>
        <p:spPr>
          <a:xfrm>
            <a:off x="1079500" y="4381500"/>
            <a:ext cx="177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F1-score</a:t>
            </a:r>
            <a:endParaRPr lang="en-US" sz="14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14C7C18B-8848-4DA1-80E6-7035CB67376A}"/>
              </a:ext>
            </a:extLst>
          </p:cNvPr>
          <p:cNvSpPr/>
          <p:nvPr/>
        </p:nvSpPr>
        <p:spPr>
          <a:xfrm>
            <a:off x="2857500" y="4318000"/>
            <a:ext cx="190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0,</a:t>
            </a:r>
            <a:r>
              <a:rPr lang="ru-RU" sz="24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62</a:t>
            </a:r>
            <a:endParaRPr lang="en-US" sz="16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2CC69EB2-D322-4048-AE35-8F6F6284FF17}"/>
              </a:ext>
            </a:extLst>
          </p:cNvPr>
          <p:cNvSpPr/>
          <p:nvPr/>
        </p:nvSpPr>
        <p:spPr>
          <a:xfrm>
            <a:off x="1079500" y="4953000"/>
            <a:ext cx="368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Метрики на test set (20% holdout)</a:t>
            </a:r>
            <a:endParaRPr lang="en-US" sz="1200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5AE1622F-BEF8-40A6-A8DF-8C5455EC577E}"/>
              </a:ext>
            </a:extLst>
          </p:cNvPr>
          <p:cNvSpPr/>
          <p:nvPr/>
        </p:nvSpPr>
        <p:spPr>
          <a:xfrm>
            <a:off x="5461000" y="2095500"/>
            <a:ext cx="10033000" cy="3556000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graphicFrame>
        <p:nvGraphicFramePr>
          <p:cNvPr id="21" name="Chart 0">
            <a:extLst>
              <a:ext uri="{FF2B5EF4-FFF2-40B4-BE49-F238E27FC236}">
                <a16:creationId xmlns:a16="http://schemas.microsoft.com/office/drawing/2014/main" id="{6EFBF749-6C9D-4552-9C20-9C3E17876A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6556409"/>
              </p:ext>
            </p:extLst>
          </p:nvPr>
        </p:nvGraphicFramePr>
        <p:xfrm>
          <a:off x="5778500" y="2349500"/>
          <a:ext cx="9398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4">
            <a:extLst>
              <a:ext uri="{FF2B5EF4-FFF2-40B4-BE49-F238E27FC236}">
                <a16:creationId xmlns:a16="http://schemas.microsoft.com/office/drawing/2014/main" id="{B6A29B88-AB13-4D96-92F6-2A0997E010D5}"/>
              </a:ext>
            </a:extLst>
          </p:cNvPr>
          <p:cNvSpPr/>
          <p:nvPr/>
        </p:nvSpPr>
        <p:spPr>
          <a:xfrm>
            <a:off x="762000" y="6032500"/>
            <a:ext cx="14732000" cy="2732809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86318D38-CEF2-489A-8553-9E63B750CCAB}"/>
              </a:ext>
            </a:extLst>
          </p:cNvPr>
          <p:cNvSpPr/>
          <p:nvPr/>
        </p:nvSpPr>
        <p:spPr>
          <a:xfrm>
            <a:off x="1079500" y="6223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Топ признаков по важности</a:t>
            </a:r>
            <a:endParaRPr lang="en-US" sz="16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ED2E247D-839E-4D8F-8BF0-DBC3F5B378D1}"/>
              </a:ext>
            </a:extLst>
          </p:cNvPr>
          <p:cNvSpPr/>
          <p:nvPr/>
        </p:nvSpPr>
        <p:spPr>
          <a:xfrm>
            <a:off x="1079500" y="6731000"/>
            <a:ext cx="1409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tenure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стаж клиента (0,127). Чем дольше клиент, тем ниже вероятность оттока.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contract_Month-to-month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(0,106) и </a:t>
            </a:r>
            <a:r>
              <a:rPr lang="en-US" sz="1800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contract_Two_year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(0,059) — тип контракта является вторым по силе предиктором.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totalcharges / monthlycharges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финансовые метрики влияют на решение об уходе.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 onlinesecurity_No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(0,050) — отсутствие защиты подтверждается как значимый фактор риска.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854443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120"/>
            </a:gs>
            <a:gs pos="100000">
              <a:srgbClr val="111827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0000" y="6985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3600" b="1" dirty="0">
                <a:solidFill>
                  <a:srgbClr val="F1F5F9"/>
                </a:solidFill>
                <a:latin typeface="Liter" pitchFamily="34" charset="0"/>
              </a:rPr>
              <a:t>Экономика: два сегмента позволяют сохранить до </a:t>
            </a:r>
            <a:r>
              <a:rPr lang="ru-RU" sz="3600" b="1" dirty="0">
                <a:solidFill>
                  <a:srgbClr val="38BDF8"/>
                </a:solidFill>
                <a:latin typeface="Liter" pitchFamily="34" charset="0"/>
              </a:rPr>
              <a:t>$</a:t>
            </a:r>
            <a:r>
              <a:rPr lang="en-US" sz="3600" b="1" dirty="0">
                <a:solidFill>
                  <a:srgbClr val="38BDF8"/>
                </a:solidFill>
                <a:latin typeface="Liter" pitchFamily="34" charset="0"/>
              </a:rPr>
              <a:t>637K</a:t>
            </a:r>
            <a:endParaRPr lang="en-US" sz="3600" dirty="0">
              <a:solidFill>
                <a:srgbClr val="38BDF8"/>
              </a:solidFill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6BC8F77-5468-4CA7-9513-82DCFAB1CDE9}"/>
              </a:ext>
            </a:extLst>
          </p:cNvPr>
          <p:cNvSpPr/>
          <p:nvPr/>
        </p:nvSpPr>
        <p:spPr>
          <a:xfrm>
            <a:off x="762000" y="1844128"/>
            <a:ext cx="7048500" cy="3302000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C839DF4E-D6E1-4A04-9D4E-CC6FCE105827}"/>
              </a:ext>
            </a:extLst>
          </p:cNvPr>
          <p:cNvSpPr/>
          <p:nvPr/>
        </p:nvSpPr>
        <p:spPr>
          <a:xfrm>
            <a:off x="1079500" y="2098128"/>
            <a:ext cx="2032000" cy="355600"/>
          </a:xfrm>
          <a:prstGeom prst="roundRect">
            <a:avLst>
              <a:gd name="adj" fmla="val 12000"/>
            </a:avLst>
          </a:prstGeom>
          <a:solidFill>
            <a:srgbClr val="38BDF8">
              <a:alpha val="12549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CA3871F-F8D6-40EA-935F-BF9E76F5C59F}"/>
              </a:ext>
            </a:extLst>
          </p:cNvPr>
          <p:cNvSpPr/>
          <p:nvPr/>
        </p:nvSpPr>
        <p:spPr>
          <a:xfrm>
            <a:off x="1079500" y="2606128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Защита клиентов</a:t>
            </a:r>
            <a:endParaRPr lang="en-US" sz="1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09AD8BB-B32C-4DB9-8A94-E1B4DCBEB2B4}"/>
              </a:ext>
            </a:extLst>
          </p:cNvPr>
          <p:cNvSpPr/>
          <p:nvPr/>
        </p:nvSpPr>
        <p:spPr>
          <a:xfrm>
            <a:off x="1079500" y="3114128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$631K</a:t>
            </a:r>
            <a:endParaRPr lang="en-US" sz="4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C48A40A-CDF6-4E09-B241-377A6ACAA1C0}"/>
              </a:ext>
            </a:extLst>
          </p:cNvPr>
          <p:cNvSpPr/>
          <p:nvPr/>
        </p:nvSpPr>
        <p:spPr>
          <a:xfrm>
            <a:off x="1079500" y="3939628"/>
            <a:ext cx="635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2 734 клиента в риск-группе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Ожид</a:t>
            </a:r>
            <a:r>
              <a:rPr lang="ru-RU" sz="1600" dirty="0" err="1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аемое</a:t>
            </a:r>
            <a:r>
              <a:rPr lang="ru-RU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снижение оттока с 57% до 15%</a:t>
            </a:r>
            <a:endParaRPr lang="en-US" sz="18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EB0A2AE-59A9-4772-85A4-C0BB1AE62F7F}"/>
              </a:ext>
            </a:extLst>
          </p:cNvPr>
          <p:cNvSpPr/>
          <p:nvPr/>
        </p:nvSpPr>
        <p:spPr>
          <a:xfrm>
            <a:off x="8191500" y="1844128"/>
            <a:ext cx="7048500" cy="3302000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45F2C95-407B-41EA-9D8D-D997F7B8E720}"/>
              </a:ext>
            </a:extLst>
          </p:cNvPr>
          <p:cNvSpPr/>
          <p:nvPr/>
        </p:nvSpPr>
        <p:spPr>
          <a:xfrm>
            <a:off x="8509000" y="2098128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18C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СЕГМЕНТ 2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B6C6DF2-AED7-4446-888E-5348D661486D}"/>
              </a:ext>
            </a:extLst>
          </p:cNvPr>
          <p:cNvSpPr/>
          <p:nvPr/>
        </p:nvSpPr>
        <p:spPr>
          <a:xfrm>
            <a:off x="8509000" y="2606128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Годовые контракты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2E5780C-E86D-4FE4-97D2-0C67461FD9D4}"/>
              </a:ext>
            </a:extLst>
          </p:cNvPr>
          <p:cNvSpPr/>
          <p:nvPr/>
        </p:nvSpPr>
        <p:spPr>
          <a:xfrm>
            <a:off x="8509000" y="3114128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$367K</a:t>
            </a:r>
            <a:endParaRPr lang="en-US" sz="4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1CF3A26-9C11-48E3-A0EE-CEF2D9036FD1}"/>
              </a:ext>
            </a:extLst>
          </p:cNvPr>
          <p:cNvSpPr/>
          <p:nvPr/>
        </p:nvSpPr>
        <p:spPr>
          <a:xfrm>
            <a:off x="8509000" y="3939628"/>
            <a:ext cx="635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1 994 клиента на Month-to-month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Ожид</a:t>
            </a:r>
            <a:r>
              <a:rPr lang="ru-RU" sz="1600" dirty="0" err="1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аемое</a:t>
            </a:r>
            <a:r>
              <a:rPr lang="ru-RU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снижение оттока с 51% до 25%</a:t>
            </a:r>
            <a:endParaRPr lang="en-US" sz="18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0D98BD9-49F1-4B94-9F37-68FFF4537140}"/>
              </a:ext>
            </a:extLst>
          </p:cNvPr>
          <p:cNvSpPr/>
          <p:nvPr/>
        </p:nvSpPr>
        <p:spPr>
          <a:xfrm>
            <a:off x="762000" y="5527128"/>
            <a:ext cx="14732000" cy="1778000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162896A-6E24-4AEB-82AB-29FD2AF9DBCB}"/>
              </a:ext>
            </a:extLst>
          </p:cNvPr>
          <p:cNvSpPr/>
          <p:nvPr/>
        </p:nvSpPr>
        <p:spPr>
          <a:xfrm>
            <a:off x="1079500" y="5717628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ИТОГОВЫЙ ЭФФЕКТ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CE47838-151A-435E-823A-6962A85707A6}"/>
              </a:ext>
            </a:extLst>
          </p:cNvPr>
          <p:cNvSpPr/>
          <p:nvPr/>
        </p:nvSpPr>
        <p:spPr>
          <a:xfrm>
            <a:off x="1079500" y="6162128"/>
            <a:ext cx="508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 err="1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</a:t>
            </a:r>
            <a:r>
              <a:rPr lang="en-US" sz="56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$637K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FB754B8-67B1-4FC8-BA96-39D5547C70AF}"/>
              </a:ext>
            </a:extLst>
          </p:cNvPr>
          <p:cNvSpPr/>
          <p:nvPr/>
        </p:nvSpPr>
        <p:spPr>
          <a:xfrm>
            <a:off x="6350000" y="6162128"/>
            <a:ext cx="876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ru-RU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 err="1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годовой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выручки, сохранённой за счёт двух мер удержания. </a:t>
            </a:r>
            <a:r>
              <a:rPr lang="en-US" sz="1800" dirty="0" err="1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Это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37,47</a:t>
            </a:r>
            <a:r>
              <a:rPr lang="en-US" sz="1800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%</a:t>
            </a:r>
            <a:r>
              <a:rPr lang="en-US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от текущих потерь в $1,7M.</a:t>
            </a:r>
            <a:r>
              <a:rPr lang="ru-RU" sz="18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(сегменты пересекаются, эффект неаддитивный.)</a:t>
            </a:r>
            <a:endParaRPr lang="en-US" sz="18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3552C7A-37D0-4BA2-A0EC-ECDCCE0DC226}"/>
              </a:ext>
            </a:extLst>
          </p:cNvPr>
          <p:cNvSpPr/>
          <p:nvPr/>
        </p:nvSpPr>
        <p:spPr>
          <a:xfrm>
            <a:off x="762000" y="7686128"/>
            <a:ext cx="14732000" cy="1143000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B33C396C-AD01-4C3C-8A32-95D328B81B34}"/>
              </a:ext>
            </a:extLst>
          </p:cNvPr>
          <p:cNvSpPr/>
          <p:nvPr/>
        </p:nvSpPr>
        <p:spPr>
          <a:xfrm>
            <a:off x="1079500" y="2115207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СЕГМЕНТ 1</a:t>
            </a:r>
            <a:endParaRPr lang="en-US" sz="160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266565AB-0845-49B6-B7E3-000EDF762C74}"/>
              </a:ext>
            </a:extLst>
          </p:cNvPr>
          <p:cNvSpPr/>
          <p:nvPr/>
        </p:nvSpPr>
        <p:spPr>
          <a:xfrm>
            <a:off x="8509000" y="2099003"/>
            <a:ext cx="2032000" cy="355600"/>
          </a:xfrm>
          <a:prstGeom prst="roundRect">
            <a:avLst>
              <a:gd name="adj" fmla="val 12000"/>
            </a:avLst>
          </a:prstGeom>
          <a:solidFill>
            <a:srgbClr val="818CF8">
              <a:alpha val="12549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450F192-149C-4B4F-9C66-ECCC91419C98}"/>
              </a:ext>
            </a:extLst>
          </p:cNvPr>
          <p:cNvSpPr/>
          <p:nvPr/>
        </p:nvSpPr>
        <p:spPr>
          <a:xfrm>
            <a:off x="1587500" y="8192655"/>
            <a:ext cx="5496791" cy="129309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C4E4D91-C19F-4AC8-ADC9-552794A61D7D}"/>
              </a:ext>
            </a:extLst>
          </p:cNvPr>
          <p:cNvSpPr/>
          <p:nvPr/>
        </p:nvSpPr>
        <p:spPr>
          <a:xfrm>
            <a:off x="8935604" y="8192654"/>
            <a:ext cx="5496791" cy="129309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7A3C0F0-DCE1-46AC-969C-FA74B531B182}"/>
              </a:ext>
            </a:extLst>
          </p:cNvPr>
          <p:cNvSpPr/>
          <p:nvPr/>
        </p:nvSpPr>
        <p:spPr>
          <a:xfrm>
            <a:off x="8935604" y="8189693"/>
            <a:ext cx="2148032" cy="12930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0D257957-4262-462C-A9FF-56A57B6E24A1}"/>
              </a:ext>
            </a:extLst>
          </p:cNvPr>
          <p:cNvCxnSpPr/>
          <p:nvPr/>
        </p:nvCxnSpPr>
        <p:spPr>
          <a:xfrm>
            <a:off x="1339273" y="8189693"/>
            <a:ext cx="13281891" cy="0"/>
          </a:xfrm>
          <a:prstGeom prst="line">
            <a:avLst/>
          </a:prstGeom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9B219C1A-DB19-444B-AD54-AE90B4E58020}"/>
              </a:ext>
            </a:extLst>
          </p:cNvPr>
          <p:cNvCxnSpPr/>
          <p:nvPr/>
        </p:nvCxnSpPr>
        <p:spPr>
          <a:xfrm>
            <a:off x="1339273" y="8342093"/>
            <a:ext cx="13281891" cy="0"/>
          </a:xfrm>
          <a:prstGeom prst="line">
            <a:avLst/>
          </a:prstGeom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5C5786AE-750F-4C3F-B27A-A3C71088F50B}"/>
              </a:ext>
            </a:extLst>
          </p:cNvPr>
          <p:cNvCxnSpPr/>
          <p:nvPr/>
        </p:nvCxnSpPr>
        <p:spPr>
          <a:xfrm>
            <a:off x="8128000" y="8342093"/>
            <a:ext cx="0" cy="127652"/>
          </a:xfrm>
          <a:prstGeom prst="line">
            <a:avLst/>
          </a:prstGeom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5">
            <a:extLst>
              <a:ext uri="{FF2B5EF4-FFF2-40B4-BE49-F238E27FC236}">
                <a16:creationId xmlns:a16="http://schemas.microsoft.com/office/drawing/2014/main" id="{2C7FAEE7-1BA0-489E-A211-D213852057C2}"/>
              </a:ext>
            </a:extLst>
          </p:cNvPr>
          <p:cNvSpPr/>
          <p:nvPr/>
        </p:nvSpPr>
        <p:spPr>
          <a:xfrm>
            <a:off x="3790374" y="8441553"/>
            <a:ext cx="145588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94A3B8"/>
                </a:solidFill>
                <a:ea typeface="Liter" pitchFamily="34" charset="-122"/>
              </a:rPr>
              <a:t>Текущие</a:t>
            </a:r>
            <a:r>
              <a:rPr lang="ru-RU" dirty="0">
                <a:solidFill>
                  <a:srgbClr val="F1F5F9"/>
                </a:solidFill>
                <a:ea typeface="Liter" pitchFamily="34" charset="-122"/>
              </a:rPr>
              <a:t> </a:t>
            </a:r>
            <a:r>
              <a:rPr lang="ru-RU" sz="1400" dirty="0">
                <a:solidFill>
                  <a:srgbClr val="94A3B8"/>
                </a:solidFill>
                <a:ea typeface="Liter" pitchFamily="34" charset="-122"/>
              </a:rPr>
              <a:t>потери</a:t>
            </a:r>
            <a:endParaRPr lang="en-US" sz="1400" dirty="0">
              <a:solidFill>
                <a:srgbClr val="94A3B8"/>
              </a:solidFill>
              <a:latin typeface="Liter" pitchFamily="34" charset="0"/>
              <a:ea typeface="Liter" pitchFamily="34" charset="-122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2589CDBE-776C-45B3-ABC1-3931F81EB419}"/>
              </a:ext>
            </a:extLst>
          </p:cNvPr>
          <p:cNvSpPr/>
          <p:nvPr/>
        </p:nvSpPr>
        <p:spPr>
          <a:xfrm>
            <a:off x="11083059" y="8411919"/>
            <a:ext cx="145588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</a:rPr>
              <a:t>После мер</a:t>
            </a:r>
            <a:endParaRPr lang="en-US" sz="1400" dirty="0">
              <a:solidFill>
                <a:srgbClr val="94A3B8"/>
              </a:solidFill>
              <a:latin typeface="Liter" pitchFamily="34" charset="0"/>
              <a:ea typeface="Liter" pitchFamily="34" charset="-122"/>
            </a:endParaRP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D44695C6-0EB2-4E3D-B570-AFB786386341}"/>
              </a:ext>
            </a:extLst>
          </p:cNvPr>
          <p:cNvSpPr/>
          <p:nvPr/>
        </p:nvSpPr>
        <p:spPr>
          <a:xfrm>
            <a:off x="7185891" y="7732494"/>
            <a:ext cx="62460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94A3B8"/>
                </a:solidFill>
                <a:ea typeface="Liter" pitchFamily="34" charset="-122"/>
              </a:rPr>
              <a:t>Потери</a:t>
            </a:r>
            <a:endParaRPr lang="en-US" sz="1400" dirty="0">
              <a:solidFill>
                <a:srgbClr val="94A3B8"/>
              </a:solidFill>
              <a:latin typeface="Liter" pitchFamily="34" charset="0"/>
              <a:ea typeface="Liter" pitchFamily="34" charset="-122"/>
            </a:endParaRPr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7D8566AE-2AB4-4B7A-99DC-D3294317DD1A}"/>
              </a:ext>
            </a:extLst>
          </p:cNvPr>
          <p:cNvSpPr/>
          <p:nvPr/>
        </p:nvSpPr>
        <p:spPr>
          <a:xfrm>
            <a:off x="8317058" y="7717649"/>
            <a:ext cx="132570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</a:rPr>
              <a:t>Сохранено</a:t>
            </a:r>
            <a:endParaRPr lang="en-US" sz="1400" dirty="0">
              <a:solidFill>
                <a:srgbClr val="94A3B8"/>
              </a:solidFill>
              <a:latin typeface="Liter" pitchFamily="34" charset="0"/>
              <a:ea typeface="Liter" pitchFamily="34" charset="-122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1525203D-0CB4-43E1-AB29-61415ACF5D7D}"/>
              </a:ext>
            </a:extLst>
          </p:cNvPr>
          <p:cNvSpPr/>
          <p:nvPr/>
        </p:nvSpPr>
        <p:spPr>
          <a:xfrm>
            <a:off x="6978360" y="7865753"/>
            <a:ext cx="101600" cy="100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6210833-9ABD-4CE5-BF84-2D4473F4DD07}"/>
              </a:ext>
            </a:extLst>
          </p:cNvPr>
          <p:cNvSpPr/>
          <p:nvPr/>
        </p:nvSpPr>
        <p:spPr>
          <a:xfrm>
            <a:off x="8128000" y="7865753"/>
            <a:ext cx="101600" cy="10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4569805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120"/>
            </a:gs>
            <a:gs pos="100000">
              <a:srgbClr val="111827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080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70000" y="6985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3600" b="1" dirty="0">
                <a:solidFill>
                  <a:srgbClr val="F1F5F9"/>
                </a:solidFill>
                <a:latin typeface="Liter" pitchFamily="34" charset="0"/>
              </a:rPr>
              <a:t>Три меры для снижения оттока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7CC123D6-CAF0-4101-9057-E47E83C9B6A2}"/>
              </a:ext>
            </a:extLst>
          </p:cNvPr>
          <p:cNvSpPr/>
          <p:nvPr/>
        </p:nvSpPr>
        <p:spPr>
          <a:xfrm>
            <a:off x="762000" y="2003972"/>
            <a:ext cx="4699000" cy="6572469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9B36DECD-EA04-4B91-B2A4-7C41AB153C40}"/>
              </a:ext>
            </a:extLst>
          </p:cNvPr>
          <p:cNvSpPr/>
          <p:nvPr/>
        </p:nvSpPr>
        <p:spPr>
          <a:xfrm>
            <a:off x="1143000" y="238497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32CEF40-0ACB-4F15-B44C-56FED2DA53C5}"/>
              </a:ext>
            </a:extLst>
          </p:cNvPr>
          <p:cNvSpPr/>
          <p:nvPr/>
        </p:nvSpPr>
        <p:spPr>
          <a:xfrm>
            <a:off x="1841500" y="2384972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E8A3E77-E09C-404A-BC68-5EB98EE6B1FC}"/>
              </a:ext>
            </a:extLst>
          </p:cNvPr>
          <p:cNvSpPr/>
          <p:nvPr/>
        </p:nvSpPr>
        <p:spPr>
          <a:xfrm>
            <a:off x="1143000" y="3083472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Пакет «Защита клиента»</a:t>
            </a:r>
            <a:endParaRPr lang="en-US" sz="1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1E2DBA3-9243-4FEC-8B4D-12103699164C}"/>
              </a:ext>
            </a:extLst>
          </p:cNvPr>
          <p:cNvSpPr/>
          <p:nvPr/>
        </p:nvSpPr>
        <p:spPr>
          <a:xfrm>
            <a:off x="1143000" y="3654972"/>
            <a:ext cx="3937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en-US" sz="16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OnlineSecurity</a:t>
            </a: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+ </a:t>
            </a:r>
            <a:r>
              <a:rPr lang="en-US" sz="16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TechSupport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Скидка </a:t>
            </a:r>
            <a:r>
              <a:rPr lang="en-US" sz="160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50%</a:t>
            </a: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в первый месяц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Для новых клиентов и риск-сегмента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Ожидаемый эффект: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Снижение оттока с 5</a:t>
            </a:r>
            <a:r>
              <a:rPr lang="ru-RU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</a:t>
            </a: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% </a:t>
            </a:r>
            <a:r>
              <a:rPr lang="en-US" sz="1600" dirty="0" err="1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до</a:t>
            </a: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ru-RU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%</a:t>
            </a:r>
            <a:endParaRPr lang="en-US" sz="18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C46A8732-D28E-45F7-AA17-28A517F0DF27}"/>
              </a:ext>
            </a:extLst>
          </p:cNvPr>
          <p:cNvSpPr/>
          <p:nvPr/>
        </p:nvSpPr>
        <p:spPr>
          <a:xfrm>
            <a:off x="1143000" y="6448972"/>
            <a:ext cx="3937000" cy="635000"/>
          </a:xfrm>
          <a:prstGeom prst="roundRect">
            <a:avLst>
              <a:gd name="adj" fmla="val 12000"/>
            </a:avLst>
          </a:prstGeom>
          <a:solidFill>
            <a:srgbClr val="38BDF8">
              <a:alpha val="12549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F93EC6B-AE5C-41EE-BABB-CEB35CC4C8C7}"/>
              </a:ext>
            </a:extLst>
          </p:cNvPr>
          <p:cNvSpPr/>
          <p:nvPr/>
        </p:nvSpPr>
        <p:spPr>
          <a:xfrm>
            <a:off x="1143000" y="6448972"/>
            <a:ext cx="393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38BD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+$631K выручки</a:t>
            </a:r>
            <a:endParaRPr lang="en-US" sz="16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294987DE-BF16-44C7-82AC-7A08A4558B93}"/>
              </a:ext>
            </a:extLst>
          </p:cNvPr>
          <p:cNvSpPr/>
          <p:nvPr/>
        </p:nvSpPr>
        <p:spPr>
          <a:xfrm>
            <a:off x="5778500" y="2003972"/>
            <a:ext cx="4699000" cy="6572469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1DC06060-8A50-442E-B469-4A8FA4D6AB53}"/>
              </a:ext>
            </a:extLst>
          </p:cNvPr>
          <p:cNvSpPr/>
          <p:nvPr/>
        </p:nvSpPr>
        <p:spPr>
          <a:xfrm>
            <a:off x="6223000" y="2384972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0" y="63500"/>
                </a:moveTo>
                <a:cubicBezTo>
                  <a:pt x="0" y="28476"/>
                  <a:pt x="28476" y="0"/>
                  <a:pt x="63500" y="0"/>
                </a:cubicBezTo>
                <a:lnTo>
                  <a:pt x="211832" y="0"/>
                </a:lnTo>
                <a:cubicBezTo>
                  <a:pt x="228699" y="0"/>
                  <a:pt x="244872" y="6648"/>
                  <a:pt x="256778" y="18554"/>
                </a:cubicBezTo>
                <a:lnTo>
                  <a:pt x="362446" y="124321"/>
                </a:lnTo>
                <a:cubicBezTo>
                  <a:pt x="374352" y="136227"/>
                  <a:pt x="381000" y="152400"/>
                  <a:pt x="381000" y="169267"/>
                </a:cubicBezTo>
                <a:lnTo>
                  <a:pt x="381000" y="444500"/>
                </a:lnTo>
                <a:cubicBezTo>
                  <a:pt x="381000" y="479524"/>
                  <a:pt x="352524" y="508000"/>
                  <a:pt x="3175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63500"/>
                </a:lnTo>
                <a:close/>
                <a:moveTo>
                  <a:pt x="206375" y="58043"/>
                </a:moveTo>
                <a:lnTo>
                  <a:pt x="206375" y="150813"/>
                </a:lnTo>
                <a:cubicBezTo>
                  <a:pt x="206375" y="164009"/>
                  <a:pt x="216991" y="174625"/>
                  <a:pt x="230188" y="174625"/>
                </a:cubicBezTo>
                <a:lnTo>
                  <a:pt x="322957" y="174625"/>
                </a:lnTo>
                <a:lnTo>
                  <a:pt x="206375" y="58043"/>
                </a:lnTo>
                <a:close/>
                <a:moveTo>
                  <a:pt x="87313" y="63500"/>
                </a:moveTo>
                <a:cubicBezTo>
                  <a:pt x="74116" y="63500"/>
                  <a:pt x="63500" y="74116"/>
                  <a:pt x="63500" y="87313"/>
                </a:cubicBezTo>
                <a:cubicBezTo>
                  <a:pt x="63500" y="100509"/>
                  <a:pt x="74116" y="111125"/>
                  <a:pt x="87313" y="111125"/>
                </a:cubicBezTo>
                <a:lnTo>
                  <a:pt x="134938" y="111125"/>
                </a:lnTo>
                <a:cubicBezTo>
                  <a:pt x="148134" y="111125"/>
                  <a:pt x="158750" y="100509"/>
                  <a:pt x="158750" y="87313"/>
                </a:cubicBezTo>
                <a:cubicBezTo>
                  <a:pt x="158750" y="74116"/>
                  <a:pt x="148134" y="63500"/>
                  <a:pt x="134938" y="63500"/>
                </a:cubicBezTo>
                <a:lnTo>
                  <a:pt x="87313" y="63500"/>
                </a:lnTo>
                <a:close/>
                <a:moveTo>
                  <a:pt x="87313" y="158750"/>
                </a:moveTo>
                <a:cubicBezTo>
                  <a:pt x="74116" y="158750"/>
                  <a:pt x="63500" y="169366"/>
                  <a:pt x="63500" y="182563"/>
                </a:cubicBezTo>
                <a:cubicBezTo>
                  <a:pt x="63500" y="195759"/>
                  <a:pt x="74116" y="206375"/>
                  <a:pt x="87313" y="206375"/>
                </a:cubicBezTo>
                <a:lnTo>
                  <a:pt x="134938" y="206375"/>
                </a:lnTo>
                <a:cubicBezTo>
                  <a:pt x="148134" y="206375"/>
                  <a:pt x="158750" y="195759"/>
                  <a:pt x="158750" y="182563"/>
                </a:cubicBezTo>
                <a:cubicBezTo>
                  <a:pt x="158750" y="169366"/>
                  <a:pt x="148134" y="158750"/>
                  <a:pt x="134938" y="158750"/>
                </a:cubicBezTo>
                <a:lnTo>
                  <a:pt x="87313" y="158750"/>
                </a:lnTo>
                <a:close/>
                <a:moveTo>
                  <a:pt x="157063" y="317500"/>
                </a:moveTo>
                <a:cubicBezTo>
                  <a:pt x="145852" y="317500"/>
                  <a:pt x="135334" y="322560"/>
                  <a:pt x="128389" y="331291"/>
                </a:cubicBezTo>
                <a:lnTo>
                  <a:pt x="68759" y="405805"/>
                </a:lnTo>
                <a:cubicBezTo>
                  <a:pt x="60523" y="416024"/>
                  <a:pt x="62210" y="431105"/>
                  <a:pt x="72430" y="439241"/>
                </a:cubicBezTo>
                <a:cubicBezTo>
                  <a:pt x="82649" y="447377"/>
                  <a:pt x="97730" y="445790"/>
                  <a:pt x="105866" y="435471"/>
                </a:cubicBezTo>
                <a:lnTo>
                  <a:pt x="152598" y="377130"/>
                </a:lnTo>
                <a:lnTo>
                  <a:pt x="167680" y="427434"/>
                </a:lnTo>
                <a:cubicBezTo>
                  <a:pt x="170656" y="437555"/>
                  <a:pt x="179983" y="444401"/>
                  <a:pt x="190500" y="444401"/>
                </a:cubicBezTo>
                <a:lnTo>
                  <a:pt x="293688" y="444401"/>
                </a:lnTo>
                <a:cubicBezTo>
                  <a:pt x="306884" y="444401"/>
                  <a:pt x="317500" y="433784"/>
                  <a:pt x="317500" y="420588"/>
                </a:cubicBezTo>
                <a:cubicBezTo>
                  <a:pt x="317500" y="407392"/>
                  <a:pt x="306884" y="396776"/>
                  <a:pt x="293688" y="396776"/>
                </a:cubicBezTo>
                <a:lnTo>
                  <a:pt x="208260" y="396776"/>
                </a:lnTo>
                <a:lnTo>
                  <a:pt x="192286" y="343595"/>
                </a:lnTo>
                <a:cubicBezTo>
                  <a:pt x="187623" y="328017"/>
                  <a:pt x="173335" y="317401"/>
                  <a:pt x="157063" y="317401"/>
                </a:cubicBezTo>
                <a:close/>
              </a:path>
            </a:pathLst>
          </a:custGeom>
          <a:solidFill>
            <a:srgbClr val="818CF8"/>
          </a:solidFill>
          <a:ln/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0341654-FE03-44F9-8E50-933197C35ABE}"/>
              </a:ext>
            </a:extLst>
          </p:cNvPr>
          <p:cNvSpPr/>
          <p:nvPr/>
        </p:nvSpPr>
        <p:spPr>
          <a:xfrm>
            <a:off x="6858000" y="2384972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818C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C517367F-072D-45B6-B592-78012617A204}"/>
              </a:ext>
            </a:extLst>
          </p:cNvPr>
          <p:cNvSpPr/>
          <p:nvPr/>
        </p:nvSpPr>
        <p:spPr>
          <a:xfrm>
            <a:off x="6159500" y="3083472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Перевод на годовые контракты</a:t>
            </a:r>
            <a:endParaRPr lang="en-US" sz="16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AA549175-A96C-4E74-9BD2-01D70BE3B4B4}"/>
              </a:ext>
            </a:extLst>
          </p:cNvPr>
          <p:cNvSpPr/>
          <p:nvPr/>
        </p:nvSpPr>
        <p:spPr>
          <a:xfrm>
            <a:off x="6159500" y="3654972"/>
            <a:ext cx="3937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en-US" sz="16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Бонус 1 месяц</a:t>
            </a: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за переход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Таргетинг на 10-й месяц для Month-to-month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Автоматические напоминания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Ожидаемый эффект: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Отток Month-to-month с </a:t>
            </a:r>
            <a:r>
              <a:rPr lang="ru-RU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51</a:t>
            </a: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% </a:t>
            </a:r>
            <a:r>
              <a:rPr lang="en-US" sz="1600" dirty="0" err="1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до</a:t>
            </a: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ru-RU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%</a:t>
            </a:r>
            <a:endParaRPr lang="en-US" sz="18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FFBD5DA-8688-4304-8010-E552CCE70E20}"/>
              </a:ext>
            </a:extLst>
          </p:cNvPr>
          <p:cNvSpPr/>
          <p:nvPr/>
        </p:nvSpPr>
        <p:spPr>
          <a:xfrm>
            <a:off x="6159500" y="6448972"/>
            <a:ext cx="3937000" cy="635000"/>
          </a:xfrm>
          <a:prstGeom prst="roundRect">
            <a:avLst>
              <a:gd name="adj" fmla="val 12000"/>
            </a:avLst>
          </a:prstGeom>
          <a:solidFill>
            <a:srgbClr val="818CF8">
              <a:alpha val="12549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AD7C388B-1192-45BB-8518-12D383C97C98}"/>
              </a:ext>
            </a:extLst>
          </p:cNvPr>
          <p:cNvSpPr/>
          <p:nvPr/>
        </p:nvSpPr>
        <p:spPr>
          <a:xfrm>
            <a:off x="10795000" y="2003972"/>
            <a:ext cx="4699000" cy="6572469"/>
          </a:xfrm>
          <a:prstGeom prst="roundRect">
            <a:avLst>
              <a:gd name="adj" fmla="val 8000"/>
            </a:avLst>
          </a:prstGeom>
          <a:solidFill>
            <a:srgbClr val="151E32">
              <a:alpha val="60000"/>
            </a:srgbClr>
          </a:solidFill>
          <a:ln w="12700">
            <a:solidFill>
              <a:srgbClr val="FFFFFF">
                <a:alpha val="9412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30E34F2-A979-444B-96FB-48D7988C379F}"/>
              </a:ext>
            </a:extLst>
          </p:cNvPr>
          <p:cNvSpPr/>
          <p:nvPr/>
        </p:nvSpPr>
        <p:spPr>
          <a:xfrm>
            <a:off x="11176000" y="238497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127000"/>
                </a:moveTo>
                <a:lnTo>
                  <a:pt x="0" y="158750"/>
                </a:lnTo>
                <a:lnTo>
                  <a:pt x="508000" y="158750"/>
                </a:lnTo>
                <a:lnTo>
                  <a:pt x="508000" y="127000"/>
                </a:lnTo>
                <a:cubicBezTo>
                  <a:pt x="508000" y="91976"/>
                  <a:pt x="479524" y="63500"/>
                  <a:pt x="444500" y="63500"/>
                </a:cubicBezTo>
                <a:lnTo>
                  <a:pt x="63500" y="63500"/>
                </a:lnTo>
                <a:cubicBezTo>
                  <a:pt x="28476" y="63500"/>
                  <a:pt x="0" y="91976"/>
                  <a:pt x="0" y="127000"/>
                </a:cubicBezTo>
                <a:close/>
                <a:moveTo>
                  <a:pt x="0" y="206375"/>
                </a:moveTo>
                <a:lnTo>
                  <a:pt x="0" y="381000"/>
                </a:lnTo>
                <a:cubicBezTo>
                  <a:pt x="0" y="416024"/>
                  <a:pt x="28476" y="444500"/>
                  <a:pt x="63500" y="444500"/>
                </a:cubicBezTo>
                <a:lnTo>
                  <a:pt x="444500" y="444500"/>
                </a:lnTo>
                <a:cubicBezTo>
                  <a:pt x="479524" y="444500"/>
                  <a:pt x="508000" y="416024"/>
                  <a:pt x="508000" y="381000"/>
                </a:cubicBezTo>
                <a:lnTo>
                  <a:pt x="508000" y="206375"/>
                </a:lnTo>
                <a:lnTo>
                  <a:pt x="0" y="206375"/>
                </a:lnTo>
                <a:close/>
                <a:moveTo>
                  <a:pt x="63500" y="357188"/>
                </a:moveTo>
                <a:cubicBezTo>
                  <a:pt x="63500" y="343991"/>
                  <a:pt x="74116" y="333375"/>
                  <a:pt x="87313" y="333375"/>
                </a:cubicBezTo>
                <a:lnTo>
                  <a:pt x="134938" y="333375"/>
                </a:lnTo>
                <a:cubicBezTo>
                  <a:pt x="148134" y="333375"/>
                  <a:pt x="158750" y="343991"/>
                  <a:pt x="158750" y="357188"/>
                </a:cubicBezTo>
                <a:cubicBezTo>
                  <a:pt x="158750" y="370384"/>
                  <a:pt x="148134" y="381000"/>
                  <a:pt x="134938" y="381000"/>
                </a:cubicBezTo>
                <a:lnTo>
                  <a:pt x="87313" y="381000"/>
                </a:lnTo>
                <a:cubicBezTo>
                  <a:pt x="74116" y="381000"/>
                  <a:pt x="63500" y="370384"/>
                  <a:pt x="63500" y="357188"/>
                </a:cubicBezTo>
                <a:close/>
                <a:moveTo>
                  <a:pt x="206375" y="357188"/>
                </a:moveTo>
                <a:cubicBezTo>
                  <a:pt x="206375" y="343991"/>
                  <a:pt x="216991" y="333375"/>
                  <a:pt x="230188" y="333375"/>
                </a:cubicBezTo>
                <a:lnTo>
                  <a:pt x="293688" y="333375"/>
                </a:lnTo>
                <a:cubicBezTo>
                  <a:pt x="306884" y="333375"/>
                  <a:pt x="317500" y="343991"/>
                  <a:pt x="317500" y="357188"/>
                </a:cubicBezTo>
                <a:cubicBezTo>
                  <a:pt x="317500" y="370384"/>
                  <a:pt x="306884" y="381000"/>
                  <a:pt x="293688" y="381000"/>
                </a:cubicBezTo>
                <a:lnTo>
                  <a:pt x="230188" y="381000"/>
                </a:lnTo>
                <a:cubicBezTo>
                  <a:pt x="216991" y="381000"/>
                  <a:pt x="206375" y="370384"/>
                  <a:pt x="206375" y="357188"/>
                </a:cubicBezTo>
                <a:close/>
              </a:path>
            </a:pathLst>
          </a:custGeom>
          <a:solidFill>
            <a:srgbClr val="F43F5E"/>
          </a:solidFill>
          <a:ln/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038CFC5-C893-4656-8827-9184D079FD05}"/>
              </a:ext>
            </a:extLst>
          </p:cNvPr>
          <p:cNvSpPr/>
          <p:nvPr/>
        </p:nvSpPr>
        <p:spPr>
          <a:xfrm>
            <a:off x="11874500" y="2384972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43F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E122849-F690-4B06-A312-CE86EAD70379}"/>
              </a:ext>
            </a:extLst>
          </p:cNvPr>
          <p:cNvSpPr/>
          <p:nvPr/>
        </p:nvSpPr>
        <p:spPr>
          <a:xfrm>
            <a:off x="11176000" y="3083472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Перевод на автоплатёж</a:t>
            </a:r>
            <a:endParaRPr lang="en-US" sz="16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2580CB40-0A27-4B94-8D66-A96DE27C3F7E}"/>
              </a:ext>
            </a:extLst>
          </p:cNvPr>
          <p:cNvSpPr/>
          <p:nvPr/>
        </p:nvSpPr>
        <p:spPr>
          <a:xfrm>
            <a:off x="11176000" y="3654972"/>
            <a:ext cx="3937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en-US" sz="16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Electronic check → автоплатёж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Интеграция с банками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Бонусные баллы за подключение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ru-RU" sz="16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Дополнительный</a:t>
            </a:r>
            <a:r>
              <a:rPr lang="en-US" sz="1600" b="1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эффект: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Снижение оттока с 45% до 15%</a:t>
            </a:r>
            <a:endParaRPr lang="en-US" sz="18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29C69928-0924-418F-A1C2-38D8D53436D5}"/>
              </a:ext>
            </a:extLst>
          </p:cNvPr>
          <p:cNvSpPr/>
          <p:nvPr/>
        </p:nvSpPr>
        <p:spPr>
          <a:xfrm>
            <a:off x="6159500" y="6441965"/>
            <a:ext cx="393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818C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+$367K выручки</a:t>
            </a:r>
            <a:endParaRPr lang="en-US" sz="160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381257C5-6CD4-4D4D-9605-B3D79D59FB57}"/>
              </a:ext>
            </a:extLst>
          </p:cNvPr>
          <p:cNvSpPr/>
          <p:nvPr/>
        </p:nvSpPr>
        <p:spPr>
          <a:xfrm>
            <a:off x="11176000" y="6441965"/>
            <a:ext cx="3937000" cy="635000"/>
          </a:xfrm>
          <a:prstGeom prst="roundRect">
            <a:avLst>
              <a:gd name="adj" fmla="val 12000"/>
            </a:avLst>
          </a:prstGeom>
          <a:solidFill>
            <a:srgbClr val="F43F5E">
              <a:alpha val="12549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ru-BY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5BA7B4F-F37A-4AD8-B767-B3ADA014BB1E}"/>
              </a:ext>
            </a:extLst>
          </p:cNvPr>
          <p:cNvSpPr/>
          <p:nvPr/>
        </p:nvSpPr>
        <p:spPr>
          <a:xfrm>
            <a:off x="11176000" y="6448972"/>
            <a:ext cx="393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43F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−</a:t>
            </a:r>
            <a:r>
              <a:rPr lang="ru-RU" dirty="0">
                <a:solidFill>
                  <a:srgbClr val="F43F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</a:t>
            </a:r>
            <a:r>
              <a:rPr lang="en-US" sz="1800" dirty="0">
                <a:solidFill>
                  <a:srgbClr val="F43F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% оттока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9938072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</TotalTime>
  <Words>714</Words>
  <Application>Microsoft Office PowerPoint</Application>
  <PresentationFormat>Произвольный</PresentationFormat>
  <Paragraphs>159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7" baseType="lpstr">
      <vt:lpstr>Arial</vt:lpstr>
      <vt:lpstr>Calibri</vt:lpstr>
      <vt:lpstr>Inherit</vt:lpstr>
      <vt:lpstr>Leelawadee UI Semilight</vt:lpstr>
      <vt:lpstr>Liter</vt:lpstr>
      <vt:lpstr>Quattrocento Sans</vt:lpstr>
      <vt:lpstr>QuattrocentoSans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Untitled</dc:subject>
  <dc:creator>Kimi</dc:creator>
  <cp:lastModifiedBy>User</cp:lastModifiedBy>
  <cp:revision>38</cp:revision>
  <dcterms:created xsi:type="dcterms:W3CDTF">2026-05-02T20:40:16Z</dcterms:created>
  <dcterms:modified xsi:type="dcterms:W3CDTF">2026-05-04T19:26:16Z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{"Label":"Untitled","ContentProducer":"001191110108MACG2KBH8F10000","ProduceID":"19de5781-1322-86cd-8000-00003e34550a","ReservedCode1":"","ContentPropagator":"001191110108MACG2KBH8F20000","PropagateID":"19de5781-1322-86cd-8000-00003e34550a","ReservedCode2":""}</vt:lpwstr>
  </property>
</Properties>
</file>